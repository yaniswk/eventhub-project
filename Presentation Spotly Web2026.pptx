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8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paceGrotesk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b6011ba0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b6011ba0d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b6011ba0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b6011ba0d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6011ba0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8b6011ba0d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b6011ba0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8b6011ba0d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b6011ba0d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8b6011ba0d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b6011ba0d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8b6011ba0d_0_3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b6011ba0d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8b6011ba0d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b6011ba0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8b6011ba0d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7740589" y="215903"/>
            <a:ext cx="959715" cy="355597"/>
            <a:chOff x="0" y="-38100"/>
            <a:chExt cx="505529" cy="187310"/>
          </a:xfrm>
        </p:grpSpPr>
        <p:sp>
          <p:nvSpPr>
            <p:cNvPr id="130" name="Google Shape;130;p25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5"/>
          <p:cNvSpPr/>
          <p:nvPr/>
        </p:nvSpPr>
        <p:spPr>
          <a:xfrm rot="-5400000">
            <a:off x="3244714" y="-1918996"/>
            <a:ext cx="3700832" cy="10424160"/>
          </a:xfrm>
          <a:custGeom>
            <a:rect b="b" l="l" r="r" t="t"/>
            <a:pathLst>
              <a:path extrusionOk="0"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7016" r="0" t="0"/>
            </a:stretch>
          </a:blipFill>
          <a:ln>
            <a:noFill/>
          </a:ln>
        </p:spPr>
      </p:sp>
      <p:sp>
        <p:nvSpPr>
          <p:cNvPr id="133" name="Google Shape;133;p25"/>
          <p:cNvSpPr txBox="1"/>
          <p:nvPr/>
        </p:nvSpPr>
        <p:spPr>
          <a:xfrm>
            <a:off x="7865125" y="331600"/>
            <a:ext cx="710646" cy="169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01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1379874" y="2141072"/>
            <a:ext cx="6373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Spotly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720913" y="1644236"/>
            <a:ext cx="7724215" cy="52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and Participant Management System</a:t>
            </a:r>
            <a:endParaRPr sz="700"/>
          </a:p>
        </p:txBody>
      </p:sp>
      <p:grpSp>
        <p:nvGrpSpPr>
          <p:cNvPr id="136" name="Google Shape;136;p25"/>
          <p:cNvGrpSpPr/>
          <p:nvPr/>
        </p:nvGrpSpPr>
        <p:grpSpPr>
          <a:xfrm>
            <a:off x="3949900" y="3576831"/>
            <a:ext cx="1233459" cy="529846"/>
            <a:chOff x="0" y="-38100"/>
            <a:chExt cx="675276" cy="290072"/>
          </a:xfrm>
        </p:grpSpPr>
        <p:sp>
          <p:nvSpPr>
            <p:cNvPr id="137" name="Google Shape;137;p25"/>
            <p:cNvSpPr/>
            <p:nvPr/>
          </p:nvSpPr>
          <p:spPr>
            <a:xfrm>
              <a:off x="0" y="0"/>
              <a:ext cx="675276" cy="251972"/>
            </a:xfrm>
            <a:custGeom>
              <a:rect b="b" l="l" r="r" t="t"/>
              <a:pathLst>
                <a:path extrusionOk="0" h="251972" w="675276">
                  <a:moveTo>
                    <a:pt x="125986" y="0"/>
                  </a:moveTo>
                  <a:lnTo>
                    <a:pt x="549290" y="0"/>
                  </a:lnTo>
                  <a:cubicBezTo>
                    <a:pt x="582703" y="0"/>
                    <a:pt x="614748" y="13273"/>
                    <a:pt x="638375" y="36900"/>
                  </a:cubicBezTo>
                  <a:cubicBezTo>
                    <a:pt x="662002" y="60527"/>
                    <a:pt x="675276" y="92572"/>
                    <a:pt x="675276" y="125986"/>
                  </a:cubicBezTo>
                  <a:lnTo>
                    <a:pt x="675276" y="125986"/>
                  </a:lnTo>
                  <a:cubicBezTo>
                    <a:pt x="675276" y="195566"/>
                    <a:pt x="618870" y="251972"/>
                    <a:pt x="549290" y="251972"/>
                  </a:cubicBezTo>
                  <a:lnTo>
                    <a:pt x="125986" y="251972"/>
                  </a:lnTo>
                  <a:cubicBezTo>
                    <a:pt x="56406" y="251972"/>
                    <a:pt x="0" y="195566"/>
                    <a:pt x="0" y="125986"/>
                  </a:cubicBezTo>
                  <a:lnTo>
                    <a:pt x="0" y="125986"/>
                  </a:lnTo>
                  <a:cubicBezTo>
                    <a:pt x="0" y="56406"/>
                    <a:pt x="56406" y="0"/>
                    <a:pt x="125986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4000" lIns="44000" spcFirstLastPara="1" rIns="44000" wrap="square" tIns="44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5"/>
            <p:cNvSpPr txBox="1"/>
            <p:nvPr/>
          </p:nvSpPr>
          <p:spPr>
            <a:xfrm>
              <a:off x="0" y="-38100"/>
              <a:ext cx="675276" cy="29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450" lIns="24450" spcFirstLastPara="1" rIns="24450" wrap="square" tIns="244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5"/>
          <p:cNvSpPr txBox="1"/>
          <p:nvPr/>
        </p:nvSpPr>
        <p:spPr>
          <a:xfrm>
            <a:off x="3981957" y="3691222"/>
            <a:ext cx="1202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Full-stack web application</a:t>
            </a:r>
            <a:endParaRPr sz="700"/>
          </a:p>
        </p:txBody>
      </p:sp>
      <p:sp>
        <p:nvSpPr>
          <p:cNvPr id="140" name="Google Shape;140;p25"/>
          <p:cNvSpPr txBox="1"/>
          <p:nvPr/>
        </p:nvSpPr>
        <p:spPr>
          <a:xfrm>
            <a:off x="514350" y="4409968"/>
            <a:ext cx="2996037" cy="430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Lana HUYNH</a:t>
            </a:r>
            <a:endParaRPr sz="700"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Yanis SAADI DIT SAADA</a:t>
            </a:r>
            <a:endParaRPr sz="700"/>
          </a:p>
        </p:txBody>
      </p:sp>
      <p:sp>
        <p:nvSpPr>
          <p:cNvPr id="141" name="Google Shape;141;p25"/>
          <p:cNvSpPr txBox="1"/>
          <p:nvPr/>
        </p:nvSpPr>
        <p:spPr>
          <a:xfrm>
            <a:off x="6255980" y="4409968"/>
            <a:ext cx="2373670" cy="21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programming 2026</a:t>
            </a:r>
            <a:endParaRPr sz="700"/>
          </a:p>
        </p:txBody>
      </p:sp>
      <p:sp>
        <p:nvSpPr>
          <p:cNvPr id="142" name="Google Shape;142;p25"/>
          <p:cNvSpPr txBox="1"/>
          <p:nvPr/>
        </p:nvSpPr>
        <p:spPr>
          <a:xfrm>
            <a:off x="4248014" y="4417662"/>
            <a:ext cx="637361" cy="21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/>
          <p:nvPr/>
        </p:nvSpPr>
        <p:spPr>
          <a:xfrm rot="378515">
            <a:off x="2438894" y="3194670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6"/>
          <p:cNvSpPr/>
          <p:nvPr/>
        </p:nvSpPr>
        <p:spPr>
          <a:xfrm>
            <a:off x="-292664" y="-1718968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" name="Google Shape;149;p26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150" name="Google Shape;150;p26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6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6"/>
          <p:cNvSpPr txBox="1"/>
          <p:nvPr/>
        </p:nvSpPr>
        <p:spPr>
          <a:xfrm>
            <a:off x="7865125" y="331600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02</a:t>
            </a:r>
            <a:endParaRPr sz="700"/>
          </a:p>
        </p:txBody>
      </p:sp>
      <p:sp>
        <p:nvSpPr>
          <p:cNvPr id="153" name="Google Shape;153;p26"/>
          <p:cNvSpPr txBox="1"/>
          <p:nvPr/>
        </p:nvSpPr>
        <p:spPr>
          <a:xfrm>
            <a:off x="411523" y="245077"/>
            <a:ext cx="880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Spotly</a:t>
            </a:r>
            <a:endParaRPr sz="7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571463" y="857825"/>
            <a:ext cx="800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62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Overview</a:t>
            </a:r>
            <a:endParaRPr b="0" i="0" sz="286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571463" y="1683626"/>
            <a:ext cx="38577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2"/>
              <a:buFont typeface="Playfair Display"/>
              <a:buNone/>
            </a:pPr>
            <a:r>
              <a:rPr b="1" i="0" lang="fr" sz="1602" u="none" cap="none" strike="noStrike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Technology Stack</a:t>
            </a:r>
            <a:endParaRPr b="0" i="0" sz="160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571463" y="2201548"/>
            <a:ext cx="285900" cy="285900"/>
          </a:xfrm>
          <a:prstGeom prst="ellipse">
            <a:avLst/>
          </a:prstGeom>
          <a:solidFill>
            <a:srgbClr val="EC489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044" y="228012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1000088" y="2201548"/>
            <a:ext cx="249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Frontend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1000088" y="2431934"/>
            <a:ext cx="24933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Single Page Application (SPA).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571463" y="2758760"/>
            <a:ext cx="285900" cy="285900"/>
          </a:xfrm>
          <a:prstGeom prst="ellipse">
            <a:avLst/>
          </a:prstGeom>
          <a:solidFill>
            <a:srgbClr val="EC489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81" y="2837341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/>
          <p:nvPr/>
        </p:nvSpPr>
        <p:spPr>
          <a:xfrm>
            <a:off x="1000088" y="2758760"/>
            <a:ext cx="1914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Backend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1000088" y="2989146"/>
            <a:ext cx="19146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Django REST Framework API.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571463" y="3315973"/>
            <a:ext cx="285900" cy="285900"/>
          </a:xfrm>
          <a:prstGeom prst="ellipse">
            <a:avLst/>
          </a:prstGeom>
          <a:solidFill>
            <a:srgbClr val="EC489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081" y="3394554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1000088" y="3315973"/>
            <a:ext cx="29199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1000088" y="3546359"/>
            <a:ext cx="29199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Relational database (SQLite).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571463" y="3873185"/>
            <a:ext cx="285900" cy="285900"/>
          </a:xfrm>
          <a:prstGeom prst="ellipse">
            <a:avLst/>
          </a:prstGeom>
          <a:solidFill>
            <a:srgbClr val="EC4899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081" y="3951766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/>
          <p:nvPr/>
        </p:nvSpPr>
        <p:spPr>
          <a:xfrm>
            <a:off x="1000088" y="3873185"/>
            <a:ext cx="3314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Additional work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000088" y="4103571"/>
            <a:ext cx="33147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b="0" i="0" lang="fr" sz="1050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Node.js / Express backend used for comparison.</a:t>
            </a:r>
            <a:endParaRPr b="0" i="0" sz="10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714838" y="1683626"/>
            <a:ext cx="38577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2"/>
              <a:buFont typeface="Playfair Display"/>
              <a:buNone/>
            </a:pPr>
            <a:r>
              <a:rPr b="1" lang="fr" sz="1602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roles</a:t>
            </a:r>
            <a:endParaRPr b="0" i="0" sz="160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4544300" y="2191776"/>
            <a:ext cx="38577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Django backend: data models, API, business logic, permissions - </a:t>
            </a:r>
            <a:r>
              <a:rPr lang="fr" sz="1200">
                <a:solidFill>
                  <a:srgbClr val="9FC5E8"/>
                </a:solidFill>
                <a:latin typeface="Georgia"/>
                <a:ea typeface="Georgia"/>
                <a:cs typeface="Georgia"/>
                <a:sym typeface="Georgia"/>
              </a:rPr>
              <a:t>Yanis</a:t>
            </a:r>
            <a:endParaRPr sz="1200">
              <a:solidFill>
                <a:srgbClr val="9FC5E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FC5E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React frontend: components, forms, authentication UI, API integration - </a:t>
            </a:r>
            <a:r>
              <a:rPr lang="fr" sz="1200">
                <a:solidFill>
                  <a:srgbClr val="DD7E6B"/>
                </a:solidFill>
                <a:latin typeface="Georgia"/>
                <a:ea typeface="Georgia"/>
                <a:cs typeface="Georgia"/>
                <a:sym typeface="Georgia"/>
              </a:rPr>
              <a:t>Lana</a:t>
            </a:r>
            <a:endParaRPr sz="1200">
              <a:solidFill>
                <a:srgbClr val="DD7E6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D7E6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Node.js + deployment: comparative backend, deployment configuration - </a:t>
            </a:r>
            <a:r>
              <a:rPr lang="fr" sz="1200">
                <a:solidFill>
                  <a:srgbClr val="B6D7A8"/>
                </a:solidFill>
                <a:latin typeface="Georgia"/>
                <a:ea typeface="Georgia"/>
                <a:cs typeface="Georgia"/>
                <a:sym typeface="Georgia"/>
              </a:rPr>
              <a:t>Both</a:t>
            </a:r>
            <a:endParaRPr sz="1200">
              <a:solidFill>
                <a:srgbClr val="B6D7A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t/>
            </a:r>
            <a:endParaRPr sz="105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4701619" y="2914014"/>
            <a:ext cx="71400" cy="71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4701613" y="3523140"/>
            <a:ext cx="71400" cy="71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701613" y="2280804"/>
            <a:ext cx="71400" cy="71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762000" y="4505475"/>
            <a:ext cx="762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Spotly is a full-stack web application for event and participant management. It allows users to manage events, create participant profiles, and register participants for events through a registration system.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 rot="378515">
            <a:off x="8864769" y="2956308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7"/>
          <p:cNvSpPr/>
          <p:nvPr/>
        </p:nvSpPr>
        <p:spPr>
          <a:xfrm>
            <a:off x="-768827" y="-1436993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4" name="Google Shape;184;p27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185" name="Google Shape;185;p27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27"/>
          <p:cNvSpPr/>
          <p:nvPr/>
        </p:nvSpPr>
        <p:spPr>
          <a:xfrm>
            <a:off x="3042950" y="325440"/>
            <a:ext cx="716424" cy="716424"/>
          </a:xfrm>
          <a:custGeom>
            <a:rect b="b" l="l" r="r" t="t"/>
            <a:pathLst>
              <a:path extrusionOk="0" h="1432847" w="1432847">
                <a:moveTo>
                  <a:pt x="0" y="0"/>
                </a:moveTo>
                <a:lnTo>
                  <a:pt x="1432847" y="0"/>
                </a:lnTo>
                <a:lnTo>
                  <a:pt x="1432847" y="1432848"/>
                </a:lnTo>
                <a:lnTo>
                  <a:pt x="0" y="1432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27"/>
          <p:cNvSpPr txBox="1"/>
          <p:nvPr/>
        </p:nvSpPr>
        <p:spPr>
          <a:xfrm>
            <a:off x="7869887" y="325439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03</a:t>
            </a:r>
            <a:endParaRPr sz="700"/>
          </a:p>
        </p:txBody>
      </p:sp>
      <p:sp>
        <p:nvSpPr>
          <p:cNvPr id="189" name="Google Shape;189;p27"/>
          <p:cNvSpPr txBox="1"/>
          <p:nvPr/>
        </p:nvSpPr>
        <p:spPr>
          <a:xfrm>
            <a:off x="411523" y="245078"/>
            <a:ext cx="88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2"/>
                </a:solidFill>
              </a:rPr>
              <a:t>Spotly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11523" y="405608"/>
            <a:ext cx="88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91" name="Google Shape;191;p27"/>
          <p:cNvSpPr/>
          <p:nvPr/>
        </p:nvSpPr>
        <p:spPr>
          <a:xfrm>
            <a:off x="571500" y="638763"/>
            <a:ext cx="8001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62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</a:t>
            </a:r>
            <a:endParaRPr b="0" i="0" sz="286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571500" y="2676796"/>
            <a:ext cx="2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602"/>
              <a:buFont typeface="Playfair Display"/>
              <a:buNone/>
            </a:pPr>
            <a:r>
              <a:rPr b="1" i="0" lang="fr" sz="1602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882925" y="2683775"/>
            <a:ext cx="287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React displays the user interface and handles navigation through protected routes.</a:t>
            </a:r>
            <a:endParaRPr b="1" sz="12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t/>
            </a:r>
            <a:endParaRPr b="1" sz="105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97"/>
              <a:buFont typeface="Playfair Display"/>
              <a:buNone/>
            </a:pPr>
            <a:r>
              <a:t/>
            </a:r>
            <a:endParaRPr b="1" sz="1397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4113065" y="2675308"/>
            <a:ext cx="28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602"/>
              <a:buFont typeface="Playfair Display"/>
              <a:buNone/>
            </a:pPr>
            <a:r>
              <a:rPr b="1" i="0" lang="fr" sz="1602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4500595" y="2692234"/>
            <a:ext cx="324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REST Framework exposes CRUD API endpoints for events, participants, and registrations.</a:t>
            </a:r>
            <a:endParaRPr b="1" sz="1397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6615075" y="4122400"/>
            <a:ext cx="217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97"/>
              <a:buFont typeface="Playfair Display"/>
              <a:buNone/>
            </a:pPr>
            <a:r>
              <a:rPr b="1"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React SPA ↔ Django REST API ↔ SQLite Database</a:t>
            </a:r>
            <a:endParaRPr b="1" sz="1397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7" name="Google Shape;197;p27"/>
          <p:cNvSpPr/>
          <p:nvPr/>
        </p:nvSpPr>
        <p:spPr>
          <a:xfrm rot="10800000">
            <a:off x="7537508" y="1103232"/>
            <a:ext cx="1375431" cy="1375431"/>
          </a:xfrm>
          <a:custGeom>
            <a:rect b="b" l="l" r="r" t="t"/>
            <a:pathLst>
              <a:path extrusionOk="0"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27"/>
          <p:cNvSpPr txBox="1"/>
          <p:nvPr/>
        </p:nvSpPr>
        <p:spPr>
          <a:xfrm>
            <a:off x="411525" y="1142138"/>
            <a:ext cx="575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Spotly follows a classic full-stack architecture with a React frontend, a Django REST backend, and a relational database. The frontend sends HTTP requests to the backend API, which processes business logic and returns JSON responses.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571500" y="2094263"/>
            <a:ext cx="646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Frontend ↔ Backend interaction</a:t>
            </a:r>
            <a:endParaRPr b="1"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2192100" y="3627325"/>
            <a:ext cx="2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602"/>
              <a:buFont typeface="Playfair Display"/>
              <a:buNone/>
            </a:pPr>
            <a:r>
              <a:rPr b="1" i="0" lang="fr" sz="1602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r>
              <a:rPr b="1" lang="fr" sz="1602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b="0" i="0" sz="16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2513325" y="3521875"/>
            <a:ext cx="3664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backend validates requests, applies authentication rules, and stores data in SQLite.</a:t>
            </a:r>
            <a:endParaRPr b="1"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 rot="378515">
            <a:off x="3423444" y="2565245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28"/>
          <p:cNvSpPr/>
          <p:nvPr/>
        </p:nvSpPr>
        <p:spPr>
          <a:xfrm>
            <a:off x="-292664" y="-1718968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28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209" name="Google Shape;209;p28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8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8"/>
          <p:cNvSpPr/>
          <p:nvPr/>
        </p:nvSpPr>
        <p:spPr>
          <a:xfrm rot="10800000">
            <a:off x="411525" y="910216"/>
            <a:ext cx="1375431" cy="1375431"/>
          </a:xfrm>
          <a:custGeom>
            <a:rect b="b" l="l" r="r" t="t"/>
            <a:pathLst>
              <a:path extrusionOk="0"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8"/>
          <p:cNvSpPr txBox="1"/>
          <p:nvPr/>
        </p:nvSpPr>
        <p:spPr>
          <a:xfrm>
            <a:off x="7865125" y="331600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04</a:t>
            </a:r>
            <a:endParaRPr sz="700"/>
          </a:p>
        </p:txBody>
      </p:sp>
      <p:sp>
        <p:nvSpPr>
          <p:cNvPr id="213" name="Google Shape;213;p28"/>
          <p:cNvSpPr txBox="1"/>
          <p:nvPr/>
        </p:nvSpPr>
        <p:spPr>
          <a:xfrm>
            <a:off x="411523" y="245078"/>
            <a:ext cx="88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2"/>
                </a:solidFill>
              </a:rPr>
              <a:t>Spotly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571500" y="780650"/>
            <a:ext cx="800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Backend &amp; Database</a:t>
            </a:r>
            <a:endParaRPr b="1" i="0" sz="2800" u="none" cap="none" strike="noStrike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843925" y="2283345"/>
            <a:ext cx="228600" cy="228600"/>
          </a:xfrm>
          <a:prstGeom prst="ellipse">
            <a:avLst/>
          </a:prstGeom>
          <a:solidFill>
            <a:srgbClr val="FFFFFF"/>
          </a:solidFill>
          <a:ln cap="flat" cmpd="sng" w="1827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325" y="228334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784"/>
              <a:buFont typeface="Space Grotesk"/>
              <a:buNone/>
            </a:pPr>
            <a:r>
              <a:rPr b="1" i="0" lang="fr" sz="784" u="none" cap="none" strike="noStrike">
                <a:solidFill>
                  <a:srgbClr val="EC4899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589025" y="1289038"/>
            <a:ext cx="78516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backend is based on three main models: Event, Participant, and Registration. This structure implements a many-to-many relationship between participants and events through a registration model.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843175" y="3539996"/>
            <a:ext cx="228600" cy="228600"/>
          </a:xfrm>
          <a:prstGeom prst="ellipse">
            <a:avLst/>
          </a:prstGeom>
          <a:solidFill>
            <a:srgbClr val="FFFFFF"/>
          </a:solidFill>
          <a:ln cap="flat" cmpd="sng" w="1827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843475" y="353999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784"/>
              <a:buFont typeface="Space Grotesk"/>
              <a:buNone/>
            </a:pPr>
            <a:r>
              <a:rPr b="1" i="0" lang="fr" sz="784" u="none" cap="none" strike="noStrike">
                <a:solidFill>
                  <a:srgbClr val="EC4899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843438" y="4434748"/>
            <a:ext cx="228600" cy="228600"/>
          </a:xfrm>
          <a:prstGeom prst="ellipse">
            <a:avLst/>
          </a:prstGeom>
          <a:solidFill>
            <a:srgbClr val="FFFFFF"/>
          </a:solidFill>
          <a:ln cap="flat" cmpd="sng" w="1827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843438" y="443474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784"/>
              <a:buFont typeface="Space Grotesk"/>
              <a:buNone/>
            </a:pPr>
            <a:r>
              <a:rPr b="1" i="0" lang="fr" sz="784" u="none" cap="none" strike="noStrike">
                <a:solidFill>
                  <a:srgbClr val="EC4899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/>
          <p:nvPr/>
        </p:nvSpPr>
        <p:spPr>
          <a:xfrm flipH="1" rot="4579257">
            <a:off x="5009107" y="3333184"/>
            <a:ext cx="7156534" cy="6362331"/>
          </a:xfrm>
          <a:custGeom>
            <a:rect b="b" l="l" r="r" t="t"/>
            <a:pathLst>
              <a:path extrusionOk="0"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28"/>
          <p:cNvSpPr txBox="1"/>
          <p:nvPr/>
        </p:nvSpPr>
        <p:spPr>
          <a:xfrm>
            <a:off x="1200875" y="2076400"/>
            <a:ext cx="66279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Database logic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One participant can register for several events.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One event can contain several participants.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Registration model is used to manage this relationship explicitly.</a:t>
            </a:r>
            <a:endParaRPr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1292325" y="3331475"/>
            <a:ext cx="69945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REST API overview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CRUD operations are available for events, participants, and registrations.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backend also includes validation, error handling, and authentication with JWT.</a:t>
            </a:r>
            <a:endParaRPr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1292438" y="4253375"/>
            <a:ext cx="69945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rule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participant cannot register twice for the same event.</a:t>
            </a:r>
            <a:endParaRPr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 rot="378515">
            <a:off x="2438894" y="3194670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29"/>
          <p:cNvSpPr/>
          <p:nvPr/>
        </p:nvSpPr>
        <p:spPr>
          <a:xfrm>
            <a:off x="6915025" y="3739075"/>
            <a:ext cx="1930500" cy="806100"/>
          </a:xfrm>
          <a:prstGeom prst="flowChartAlternateProcess">
            <a:avLst/>
          </a:prstGeom>
          <a:solidFill>
            <a:srgbClr val="493A6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-292664" y="-1718968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3" name="Google Shape;233;p29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234" name="Google Shape;234;p29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9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29"/>
          <p:cNvSpPr txBox="1"/>
          <p:nvPr/>
        </p:nvSpPr>
        <p:spPr>
          <a:xfrm>
            <a:off x="7865125" y="331600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</a:t>
            </a:r>
            <a:r>
              <a:rPr b="1" lang="fr" sz="1000">
                <a:solidFill>
                  <a:srgbClr val="FFFFFF"/>
                </a:solidFill>
              </a:rPr>
              <a:t>5</a:t>
            </a:r>
            <a:endParaRPr sz="700"/>
          </a:p>
        </p:txBody>
      </p:sp>
      <p:sp>
        <p:nvSpPr>
          <p:cNvPr id="237" name="Google Shape;237;p29"/>
          <p:cNvSpPr txBox="1"/>
          <p:nvPr/>
        </p:nvSpPr>
        <p:spPr>
          <a:xfrm>
            <a:off x="411523" y="245077"/>
            <a:ext cx="880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Spotly</a:t>
            </a:r>
            <a:endParaRPr sz="7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571463" y="857825"/>
            <a:ext cx="800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62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Frontend</a:t>
            </a:r>
            <a:endParaRPr b="0" i="0" sz="286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571475" y="3550475"/>
            <a:ext cx="7620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Frontend features</a:t>
            </a:r>
            <a:endParaRPr b="1"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b="1"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useState and useEffect were used for state and data loading.</a:t>
            </a:r>
            <a:endParaRPr b="1"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b="1"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Authentication is integrated with JWT tokens and protected routes.</a:t>
            </a:r>
            <a:endParaRPr b="1"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b="1"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interface includes forms, filtering, loading states, and error handling.</a:t>
            </a:r>
            <a:endParaRPr b="1"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505325" y="1288363"/>
            <a:ext cx="699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frontend was implemented as a React Single Page Application using functional components and React Hooks. It communicates with the Django API to display data and perform CRUD operations.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571450" y="189889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1142950" y="2007472"/>
            <a:ext cx="2073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Login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4714825" y="189889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5286325" y="2007472"/>
            <a:ext cx="162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details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571450" y="2441818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1142950" y="2550397"/>
            <a:ext cx="208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4714825" y="2441818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5286325" y="2550397"/>
            <a:ext cx="3087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Participants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571450" y="298474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1142950" y="3093322"/>
            <a:ext cx="2544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Events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4714825" y="2996156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06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5286325" y="3093318"/>
            <a:ext cx="328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lang="fr" sz="126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ProtectedRoute &amp; Navbar components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6836413" y="3803575"/>
            <a:ext cx="20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Hook usage: useIsStaff</a:t>
            </a:r>
            <a:endParaRPr sz="16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 rot="378515">
            <a:off x="8864769" y="2956308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30"/>
          <p:cNvSpPr/>
          <p:nvPr/>
        </p:nvSpPr>
        <p:spPr>
          <a:xfrm>
            <a:off x="-768827" y="-1436993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30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261" name="Google Shape;261;p30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0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30"/>
          <p:cNvSpPr/>
          <p:nvPr/>
        </p:nvSpPr>
        <p:spPr>
          <a:xfrm rot="-5400000">
            <a:off x="3895113" y="319539"/>
            <a:ext cx="716424" cy="716424"/>
          </a:xfrm>
          <a:custGeom>
            <a:rect b="b" l="l" r="r" t="t"/>
            <a:pathLst>
              <a:path extrusionOk="0" h="1432847" w="1432847">
                <a:moveTo>
                  <a:pt x="0" y="0"/>
                </a:moveTo>
                <a:lnTo>
                  <a:pt x="1432847" y="0"/>
                </a:lnTo>
                <a:lnTo>
                  <a:pt x="1432847" y="1432848"/>
                </a:lnTo>
                <a:lnTo>
                  <a:pt x="0" y="1432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30"/>
          <p:cNvSpPr txBox="1"/>
          <p:nvPr/>
        </p:nvSpPr>
        <p:spPr>
          <a:xfrm>
            <a:off x="7869887" y="325439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</a:t>
            </a:r>
            <a:r>
              <a:rPr b="1" lang="fr" sz="1000">
                <a:solidFill>
                  <a:srgbClr val="FFFFFF"/>
                </a:solidFill>
              </a:rPr>
              <a:t>6</a:t>
            </a:r>
            <a:endParaRPr sz="700"/>
          </a:p>
        </p:txBody>
      </p:sp>
      <p:sp>
        <p:nvSpPr>
          <p:cNvPr id="265" name="Google Shape;265;p30"/>
          <p:cNvSpPr txBox="1"/>
          <p:nvPr/>
        </p:nvSpPr>
        <p:spPr>
          <a:xfrm>
            <a:off x="411523" y="245078"/>
            <a:ext cx="88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2"/>
                </a:solidFill>
              </a:rPr>
              <a:t>Spotly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411523" y="405608"/>
            <a:ext cx="88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7" name="Google Shape;267;p30"/>
          <p:cNvSpPr/>
          <p:nvPr/>
        </p:nvSpPr>
        <p:spPr>
          <a:xfrm>
            <a:off x="571500" y="638763"/>
            <a:ext cx="8001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62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vs Node.js</a:t>
            </a:r>
            <a:endParaRPr sz="2862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t/>
            </a:r>
            <a:endParaRPr b="1" sz="2862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68" name="Google Shape;268;p30"/>
          <p:cNvSpPr/>
          <p:nvPr/>
        </p:nvSpPr>
        <p:spPr>
          <a:xfrm rot="10800000">
            <a:off x="6851133" y="1658457"/>
            <a:ext cx="1375431" cy="1375431"/>
          </a:xfrm>
          <a:custGeom>
            <a:rect b="b" l="l" r="r" t="t"/>
            <a:pathLst>
              <a:path extrusionOk="0"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30"/>
          <p:cNvSpPr txBox="1"/>
          <p:nvPr/>
        </p:nvSpPr>
        <p:spPr>
          <a:xfrm>
            <a:off x="1075250" y="1344175"/>
            <a:ext cx="65313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Comparison</a:t>
            </a:r>
            <a:endParaRPr b="1" sz="16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Playfair Display"/>
              <a:buChar char="●"/>
            </a:pPr>
            <a:r>
              <a:rPr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is more structured and provides built-in tools for authentication, admin interface, and REST API development.</a:t>
            </a:r>
            <a:endParaRPr sz="12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Playfair Display"/>
              <a:buChar char="●"/>
            </a:pPr>
            <a:r>
              <a:rPr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Node.js / Express is lighter and faster to set up, but requires more manual architectural choices and external packages.</a:t>
            </a:r>
            <a:endParaRPr sz="12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Playfair Display"/>
              <a:buChar char="●"/>
            </a:pPr>
            <a:r>
              <a:rPr lang="fr" sz="12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Both can scale well, but Django was more suitable for Spotly because the project required relational data, permissions, and maintainable backend organization.</a:t>
            </a:r>
            <a:endParaRPr sz="12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2158550" y="3482200"/>
            <a:ext cx="436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 b="1" sz="18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1592000" y="3882400"/>
            <a:ext cx="5497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Django was the best choice for the main backend of this app, while Node.js was useful for rapid prototyping.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/>
          <p:nvPr/>
        </p:nvSpPr>
        <p:spPr>
          <a:xfrm rot="378515">
            <a:off x="3423444" y="2565245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31"/>
          <p:cNvSpPr/>
          <p:nvPr/>
        </p:nvSpPr>
        <p:spPr>
          <a:xfrm>
            <a:off x="-292664" y="-1718968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8" name="Google Shape;278;p31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279" name="Google Shape;279;p31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1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283384" y="1020598"/>
            <a:ext cx="1375431" cy="1375430"/>
          </a:xfrm>
          <a:custGeom>
            <a:rect b="b" l="l" r="r" t="t"/>
            <a:pathLst>
              <a:path extrusionOk="0"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31"/>
          <p:cNvSpPr txBox="1"/>
          <p:nvPr/>
        </p:nvSpPr>
        <p:spPr>
          <a:xfrm>
            <a:off x="7865125" y="331600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</a:t>
            </a:r>
            <a:r>
              <a:rPr b="1" lang="fr" sz="1000">
                <a:solidFill>
                  <a:srgbClr val="FFFFFF"/>
                </a:solidFill>
              </a:rPr>
              <a:t>7</a:t>
            </a:r>
            <a:endParaRPr sz="700"/>
          </a:p>
        </p:txBody>
      </p:sp>
      <p:sp>
        <p:nvSpPr>
          <p:cNvPr id="283" name="Google Shape;283;p31"/>
          <p:cNvSpPr txBox="1"/>
          <p:nvPr/>
        </p:nvSpPr>
        <p:spPr>
          <a:xfrm>
            <a:off x="411523" y="245078"/>
            <a:ext cx="88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2"/>
                </a:solidFill>
              </a:rPr>
              <a:t>Spotly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571500" y="780650"/>
            <a:ext cx="800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lang="fr" sz="28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Deployment</a:t>
            </a:r>
            <a:endParaRPr b="1" i="0" sz="2800" u="none" cap="none" strike="noStrike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857550" y="2167420"/>
            <a:ext cx="228600" cy="228600"/>
          </a:xfrm>
          <a:prstGeom prst="ellipse">
            <a:avLst/>
          </a:prstGeom>
          <a:solidFill>
            <a:srgbClr val="FFFFFF"/>
          </a:solidFill>
          <a:ln cap="flat" cmpd="sng" w="1827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856950" y="21674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784"/>
              <a:buFont typeface="Space Grotesk"/>
              <a:buNone/>
            </a:pPr>
            <a:r>
              <a:rPr b="1" i="0" lang="fr" sz="784" u="none" cap="none" strike="noStrike">
                <a:solidFill>
                  <a:srgbClr val="EC4899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589025" y="1289050"/>
            <a:ext cx="76161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050"/>
              <a:buFont typeface="Space Grotesk"/>
              <a:buNone/>
            </a:pPr>
            <a:r>
              <a:rPr lang="fr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application was deployed as a public full-stack web project with separate frontend and backend services. </a:t>
            </a:r>
            <a:r>
              <a:rPr b="1" lang="fr" sz="13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Public URL : https://spotly-project-projects.vercel.app</a:t>
            </a:r>
            <a:endParaRPr b="1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856800" y="3424071"/>
            <a:ext cx="228600" cy="228600"/>
          </a:xfrm>
          <a:prstGeom prst="ellipse">
            <a:avLst/>
          </a:prstGeom>
          <a:solidFill>
            <a:srgbClr val="FFFFFF"/>
          </a:solidFill>
          <a:ln cap="flat" cmpd="sng" w="18275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857100" y="3424071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784"/>
              <a:buFont typeface="Space Grotesk"/>
              <a:buNone/>
            </a:pPr>
            <a:r>
              <a:rPr b="1" i="0" lang="fr" sz="784" u="none" cap="none" strike="noStrike">
                <a:solidFill>
                  <a:srgbClr val="EC4899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7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 flipH="1" rot="4579257">
            <a:off x="5009107" y="3333184"/>
            <a:ext cx="7156534" cy="6362331"/>
          </a:xfrm>
          <a:custGeom>
            <a:rect b="b" l="l" r="r" t="t"/>
            <a:pathLst>
              <a:path extrusionOk="0"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31"/>
          <p:cNvSpPr txBox="1"/>
          <p:nvPr/>
        </p:nvSpPr>
        <p:spPr>
          <a:xfrm>
            <a:off x="1200875" y="2076400"/>
            <a:ext cx="69363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Deployment elements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 backend host configured on Render.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Public frontend deployed separately and connected through allowed CORS origins.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Environment variables were used for secret key and production settings.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1292325" y="3331475"/>
            <a:ext cx="69945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Configuring frontend-backend communication in production.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Handling authentication and protected API access after deployment.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300"/>
              <a:buFont typeface="Playfair Display"/>
              <a:buChar char="●"/>
            </a:pPr>
            <a:r>
              <a:rPr lang="fr" sz="1300">
                <a:solidFill>
                  <a:srgbClr val="D6D5D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Testing production behavior, especially login, permissions, and data updates.</a:t>
            </a:r>
            <a:endParaRPr sz="1300">
              <a:solidFill>
                <a:srgbClr val="D6D5D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93" name="Google Shape;293;p31"/>
          <p:cNvCxnSpPr>
            <a:stCxn id="286" idx="2"/>
            <a:endCxn id="289" idx="0"/>
          </p:cNvCxnSpPr>
          <p:nvPr/>
        </p:nvCxnSpPr>
        <p:spPr>
          <a:xfrm flipH="1" rot="-5400000">
            <a:off x="457500" y="2909770"/>
            <a:ext cx="10281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B4A7D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/>
            </a:gs>
            <a:gs pos="50000">
              <a:srgbClr val="090909"/>
            </a:gs>
            <a:gs pos="100000">
              <a:srgbClr val="240F4D"/>
            </a:gs>
          </a:gsLst>
          <a:lin ang="2700006" scaled="0"/>
        </a:gra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/>
          <p:nvPr/>
        </p:nvSpPr>
        <p:spPr>
          <a:xfrm rot="378515">
            <a:off x="3423444" y="2565245"/>
            <a:ext cx="8123918" cy="3441587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32"/>
          <p:cNvSpPr/>
          <p:nvPr/>
        </p:nvSpPr>
        <p:spPr>
          <a:xfrm>
            <a:off x="-292664" y="-1718968"/>
            <a:ext cx="8115300" cy="3437936"/>
          </a:xfrm>
          <a:custGeom>
            <a:rect b="b" l="l" r="r" t="t"/>
            <a:pathLst>
              <a:path extrusionOk="0" h="6875872" w="16230600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32"/>
          <p:cNvGrpSpPr/>
          <p:nvPr/>
        </p:nvGrpSpPr>
        <p:grpSpPr>
          <a:xfrm>
            <a:off x="7740590" y="215905"/>
            <a:ext cx="959696" cy="355589"/>
            <a:chOff x="0" y="-38100"/>
            <a:chExt cx="505529" cy="187310"/>
          </a:xfrm>
        </p:grpSpPr>
        <p:sp>
          <p:nvSpPr>
            <p:cNvPr id="301" name="Google Shape;301;p32"/>
            <p:cNvSpPr/>
            <p:nvPr/>
          </p:nvSpPr>
          <p:spPr>
            <a:xfrm>
              <a:off x="0" y="0"/>
              <a:ext cx="505529" cy="149210"/>
            </a:xfrm>
            <a:custGeom>
              <a:rect b="b" l="l" r="r" t="t"/>
              <a:pathLst>
                <a:path extrusionOk="0"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>
              <a:gsLst>
                <a:gs pos="0">
                  <a:srgbClr val="7357FF"/>
                </a:gs>
                <a:gs pos="100000">
                  <a:srgbClr val="FCAC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2"/>
            <p:cNvSpPr txBox="1"/>
            <p:nvPr/>
          </p:nvSpPr>
          <p:spPr>
            <a:xfrm>
              <a:off x="0" y="-38100"/>
              <a:ext cx="505500" cy="1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32"/>
          <p:cNvSpPr txBox="1"/>
          <p:nvPr/>
        </p:nvSpPr>
        <p:spPr>
          <a:xfrm>
            <a:off x="7865125" y="331600"/>
            <a:ext cx="71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 0</a:t>
            </a:r>
            <a:r>
              <a:rPr b="1" lang="fr" sz="1000">
                <a:solidFill>
                  <a:srgbClr val="FFFFFF"/>
                </a:solidFill>
              </a:rPr>
              <a:t>8</a:t>
            </a:r>
            <a:endParaRPr sz="700"/>
          </a:p>
        </p:txBody>
      </p:sp>
      <p:sp>
        <p:nvSpPr>
          <p:cNvPr id="304" name="Google Shape;304;p32"/>
          <p:cNvSpPr txBox="1"/>
          <p:nvPr/>
        </p:nvSpPr>
        <p:spPr>
          <a:xfrm>
            <a:off x="411523" y="245078"/>
            <a:ext cx="88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lt2"/>
                </a:solidFill>
              </a:rPr>
              <a:t>Spotly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305" name="Google Shape;305;p32"/>
          <p:cNvSpPr/>
          <p:nvPr/>
        </p:nvSpPr>
        <p:spPr>
          <a:xfrm flipH="1" rot="6404386">
            <a:off x="-3028968" y="3292738"/>
            <a:ext cx="7472562" cy="6605666"/>
          </a:xfrm>
          <a:custGeom>
            <a:rect b="b" l="l" r="r" t="t"/>
            <a:pathLst>
              <a:path extrusionOk="0"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32"/>
          <p:cNvSpPr/>
          <p:nvPr/>
        </p:nvSpPr>
        <p:spPr>
          <a:xfrm>
            <a:off x="571450" y="750200"/>
            <a:ext cx="8001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2862"/>
              <a:buFont typeface="Playfair Display"/>
              <a:buNone/>
            </a:pPr>
            <a:r>
              <a:rPr b="1" i="0" lang="fr" sz="2862" u="none" cap="none" strike="noStrike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Demonstration Scenario</a:t>
            </a:r>
            <a:endParaRPr b="0" i="0" sz="2862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571450" y="1504563"/>
            <a:ext cx="8001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9"/>
              <a:buFont typeface="Space Grotesk"/>
              <a:buNone/>
            </a:pPr>
            <a:r>
              <a:rPr b="0" i="0" lang="fr" sz="115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following scenari</a:t>
            </a:r>
            <a:r>
              <a:rPr lang="fr" sz="115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lang="fr" sz="115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illustrates </a:t>
            </a:r>
            <a:r>
              <a:rPr b="0" i="0" lang="fr" sz="115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</a:t>
            </a:r>
            <a:r>
              <a:rPr b="0" i="0" lang="fr" sz="115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key features of the application</a:t>
            </a:r>
            <a:r>
              <a:rPr lang="fr" sz="1159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:</a:t>
            </a:r>
            <a:endParaRPr b="0" i="0" sz="115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571450" y="189889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1142950" y="2007472"/>
            <a:ext cx="2073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 in to the application.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4714825" y="189889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5286325" y="2007472"/>
            <a:ext cx="162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Create a new event.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571450" y="2441818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1142950" y="2550397"/>
            <a:ext cx="208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Create a new participant.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4714825" y="2441818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5286325" y="2550397"/>
            <a:ext cx="3087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Register the participant for an event.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571450" y="2984743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1142950" y="3093322"/>
            <a:ext cx="2544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Filter events by status or date.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4714825" y="2996156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436"/>
              <a:buFont typeface="Playfair Display"/>
              <a:buNone/>
            </a:pPr>
            <a:r>
              <a:rPr b="1" i="0" lang="fr" sz="2436" u="none" cap="none" strike="noStrike">
                <a:solidFill>
                  <a:srgbClr val="EC489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06</a:t>
            </a:r>
            <a:endParaRPr b="0" i="0" sz="243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286325" y="2984743"/>
            <a:ext cx="328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724"/>
              </a:lnSpc>
              <a:spcBef>
                <a:spcPts val="0"/>
              </a:spcBef>
              <a:spcAft>
                <a:spcPts val="0"/>
              </a:spcAft>
              <a:buClr>
                <a:srgbClr val="4338CA"/>
              </a:buClr>
              <a:buSzPts val="1269"/>
              <a:buFont typeface="Space Grotesk"/>
              <a:buNone/>
            </a:pPr>
            <a:r>
              <a:rPr b="0" i="0" lang="fr" sz="1269" u="none" cap="none" strike="noStrik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Show the difference between staff and viewer access.</a:t>
            </a:r>
            <a:endParaRPr b="0" i="0" sz="1269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3073250" y="3981700"/>
            <a:ext cx="22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Live demo coming up</a:t>
            </a:r>
            <a:endParaRPr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