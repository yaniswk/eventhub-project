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8"/>
  </p:notesMasterIdLst>
  <p:sldIdLst>
    <p:sldId id="256" r:id="rId3"/>
    <p:sldId id="257" r:id="rId4"/>
    <p:sldId id="258" r:id="rId5"/>
    <p:sldId id="259" r:id="rId6"/>
    <p:sldId id="260" r:id="rId7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Georgia" panose="02040502050405020303" pitchFamily="18" charset="0"/>
      <p:regular r:id="rId13"/>
      <p:bold r:id="rId14"/>
      <p:italic r:id="rId15"/>
      <p:boldItalic r:id="rId16"/>
    </p:embeddedFont>
    <p:embeddedFont>
      <p:font typeface="Playfair Display" pitchFamily="2" charset="77"/>
      <p:regular r:id="rId17"/>
      <p:bold r:id="rId18"/>
      <p:italic r:id="rId19"/>
      <p:boldItalic r:id="rId20"/>
    </p:embeddedFont>
    <p:embeddedFont>
      <p:font typeface="Space Grotesk" pitchFamily="2" charset="77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28"/>
  </p:normalViewPr>
  <p:slideViewPr>
    <p:cSldViewPr snapToGrid="0">
      <p:cViewPr varScale="1">
        <p:scale>
          <a:sx n="159" d="100"/>
          <a:sy n="159" d="100"/>
        </p:scale>
        <p:origin x="280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font" Target="fonts/font13.fntdata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presProps" Target="presProp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6011ba0d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8b6011ba0d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8b6011ba0d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38b6011ba0d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8b6011ba0d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8b6011ba0d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8b6011ba0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g38b6011ba0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8b6011ba0d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8b6011ba0d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ctrTitle"/>
          </p:nvPr>
        </p:nvSpPr>
        <p:spPr>
          <a:xfrm>
            <a:off x="342900" y="1065213"/>
            <a:ext cx="3886200" cy="73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ubTitle" idx="1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lvl="0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361156" y="2203450"/>
            <a:ext cx="3886200" cy="68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361156" y="1453357"/>
            <a:ext cx="3886200" cy="750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 sz="1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900"/>
              <a:buNone/>
              <a:defRPr sz="9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800"/>
              <a:buNone/>
              <a:defRPr sz="8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marL="914400" lvl="1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2"/>
          </p:nvPr>
        </p:nvSpPr>
        <p:spPr>
          <a:xfrm>
            <a:off x="23241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marL="914400" lvl="1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228600" y="767556"/>
            <a:ext cx="2020094" cy="319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228600" y="1087438"/>
            <a:ext cx="2020094" cy="197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marL="914400" lvl="1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marL="1828800" lvl="3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marL="2286000" lvl="4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marL="2743200" lvl="5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marL="3200400" lvl="6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marL="3657600" lvl="7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marL="4114800" lvl="8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3"/>
          </p:nvPr>
        </p:nvSpPr>
        <p:spPr>
          <a:xfrm>
            <a:off x="2322513" y="767556"/>
            <a:ext cx="2020888" cy="319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4"/>
          </p:nvPr>
        </p:nvSpPr>
        <p:spPr>
          <a:xfrm>
            <a:off x="2322513" y="1087438"/>
            <a:ext cx="2020888" cy="197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marL="914400" lvl="1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marL="1828800" lvl="3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marL="2286000" lvl="4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marL="2743200" lvl="5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marL="3200400" lvl="6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marL="3657600" lvl="7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marL="4114800" lvl="8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228600" y="136525"/>
            <a:ext cx="150415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1787525" y="136525"/>
            <a:ext cx="2555875" cy="2926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30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2pPr>
            <a:lvl3pPr marL="1371600" lvl="2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4pPr>
            <a:lvl5pPr marL="2286000" lvl="4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»"/>
              <a:defRPr sz="1000"/>
            </a:lvl5pPr>
            <a:lvl6pPr marL="2743200" lvl="5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228600" y="717550"/>
            <a:ext cx="1504157" cy="234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marL="914400" lvl="1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marL="1371600" lvl="2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896144" y="2400300"/>
            <a:ext cx="2743200" cy="283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896144" y="306388"/>
            <a:ext cx="2743200" cy="20574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896144" y="2683669"/>
            <a:ext cx="2743200" cy="402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marL="914400" lvl="1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marL="1371600" lvl="2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1154509" y="-125809"/>
            <a:ext cx="2262982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2366169" y="1085850"/>
            <a:ext cx="2925763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270669" y="95250"/>
            <a:ext cx="2925763" cy="30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048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700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Google Shape;129;p25"/>
          <p:cNvGrpSpPr/>
          <p:nvPr/>
        </p:nvGrpSpPr>
        <p:grpSpPr>
          <a:xfrm>
            <a:off x="7740589" y="215903"/>
            <a:ext cx="959715" cy="355597"/>
            <a:chOff x="0" y="-38100"/>
            <a:chExt cx="505529" cy="187310"/>
          </a:xfrm>
        </p:grpSpPr>
        <p:sp>
          <p:nvSpPr>
            <p:cNvPr id="130" name="Google Shape;130;p25"/>
            <p:cNvSpPr/>
            <p:nvPr/>
          </p:nvSpPr>
          <p:spPr>
            <a:xfrm>
              <a:off x="0" y="0"/>
              <a:ext cx="505529" cy="149210"/>
            </a:xfrm>
            <a:custGeom>
              <a:avLst/>
              <a:gdLst/>
              <a:ahLst/>
              <a:cxnLst/>
              <a:rect l="l" t="t" r="r" b="b"/>
              <a:pathLst>
                <a:path w="505529" h="149210" extrusionOk="0">
                  <a:moveTo>
                    <a:pt x="74605" y="0"/>
                  </a:moveTo>
                  <a:lnTo>
                    <a:pt x="430924" y="0"/>
                  </a:lnTo>
                  <a:cubicBezTo>
                    <a:pt x="472127" y="0"/>
                    <a:pt x="505529" y="33402"/>
                    <a:pt x="505529" y="74605"/>
                  </a:cubicBezTo>
                  <a:lnTo>
                    <a:pt x="505529" y="74605"/>
                  </a:lnTo>
                  <a:cubicBezTo>
                    <a:pt x="505529" y="115808"/>
                    <a:pt x="472127" y="149210"/>
                    <a:pt x="430924" y="149210"/>
                  </a:cubicBezTo>
                  <a:lnTo>
                    <a:pt x="74605" y="149210"/>
                  </a:lnTo>
                  <a:cubicBezTo>
                    <a:pt x="33402" y="149210"/>
                    <a:pt x="0" y="115808"/>
                    <a:pt x="0" y="74605"/>
                  </a:cubicBezTo>
                  <a:lnTo>
                    <a:pt x="0" y="74605"/>
                  </a:lnTo>
                  <a:cubicBezTo>
                    <a:pt x="0" y="33402"/>
                    <a:pt x="33402" y="0"/>
                    <a:pt x="74605" y="0"/>
                  </a:cubicBezTo>
                  <a:close/>
                </a:path>
              </a:pathLst>
            </a:custGeom>
            <a:gradFill>
              <a:gsLst>
                <a:gs pos="0">
                  <a:srgbClr val="7357FF"/>
                </a:gs>
                <a:gs pos="100000">
                  <a:srgbClr val="FCAC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5"/>
            <p:cNvSpPr txBox="1"/>
            <p:nvPr/>
          </p:nvSpPr>
          <p:spPr>
            <a:xfrm>
              <a:off x="0" y="-38100"/>
              <a:ext cx="505529" cy="1873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2" name="Google Shape;132;p25"/>
          <p:cNvSpPr/>
          <p:nvPr/>
        </p:nvSpPr>
        <p:spPr>
          <a:xfrm rot="-5400000">
            <a:off x="3244714" y="-1918996"/>
            <a:ext cx="3700832" cy="10424160"/>
          </a:xfrm>
          <a:custGeom>
            <a:avLst/>
            <a:gdLst/>
            <a:ahLst/>
            <a:cxnLst/>
            <a:rect l="l" t="t" r="r" b="b"/>
            <a:pathLst>
              <a:path w="7401663" h="18288000" extrusionOk="0">
                <a:moveTo>
                  <a:pt x="0" y="0"/>
                </a:moveTo>
                <a:lnTo>
                  <a:pt x="7401662" y="0"/>
                </a:lnTo>
                <a:lnTo>
                  <a:pt x="7401662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37016"/>
            </a:stretch>
          </a:blipFill>
          <a:ln>
            <a:noFill/>
          </a:ln>
        </p:spPr>
      </p:sp>
      <p:sp>
        <p:nvSpPr>
          <p:cNvPr id="133" name="Google Shape;133;p25"/>
          <p:cNvSpPr txBox="1"/>
          <p:nvPr/>
        </p:nvSpPr>
        <p:spPr>
          <a:xfrm>
            <a:off x="7865125" y="331600"/>
            <a:ext cx="710646" cy="169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Page 01</a:t>
            </a:r>
            <a:endParaRPr sz="700"/>
          </a:p>
        </p:txBody>
      </p:sp>
      <p:sp>
        <p:nvSpPr>
          <p:cNvPr id="134" name="Google Shape;134;p25"/>
          <p:cNvSpPr txBox="1"/>
          <p:nvPr/>
        </p:nvSpPr>
        <p:spPr>
          <a:xfrm>
            <a:off x="1379874" y="2141072"/>
            <a:ext cx="63735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Spotly</a:t>
            </a:r>
            <a:endParaRPr sz="700"/>
          </a:p>
        </p:txBody>
      </p:sp>
      <p:sp>
        <p:nvSpPr>
          <p:cNvPr id="135" name="Google Shape;135;p25"/>
          <p:cNvSpPr txBox="1"/>
          <p:nvPr/>
        </p:nvSpPr>
        <p:spPr>
          <a:xfrm>
            <a:off x="720913" y="1644236"/>
            <a:ext cx="7724215" cy="529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31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Event and Participant Management System</a:t>
            </a:r>
            <a:endParaRPr sz="700"/>
          </a:p>
        </p:txBody>
      </p:sp>
      <p:grpSp>
        <p:nvGrpSpPr>
          <p:cNvPr id="136" name="Google Shape;136;p25"/>
          <p:cNvGrpSpPr/>
          <p:nvPr/>
        </p:nvGrpSpPr>
        <p:grpSpPr>
          <a:xfrm>
            <a:off x="3942036" y="3401150"/>
            <a:ext cx="1281968" cy="550683"/>
            <a:chOff x="0" y="-38100"/>
            <a:chExt cx="675276" cy="290072"/>
          </a:xfrm>
        </p:grpSpPr>
        <p:sp>
          <p:nvSpPr>
            <p:cNvPr id="137" name="Google Shape;137;p25"/>
            <p:cNvSpPr/>
            <p:nvPr/>
          </p:nvSpPr>
          <p:spPr>
            <a:xfrm>
              <a:off x="0" y="0"/>
              <a:ext cx="675276" cy="251972"/>
            </a:xfrm>
            <a:custGeom>
              <a:avLst/>
              <a:gdLst/>
              <a:ahLst/>
              <a:cxnLst/>
              <a:rect l="l" t="t" r="r" b="b"/>
              <a:pathLst>
                <a:path w="675276" h="251972" extrusionOk="0">
                  <a:moveTo>
                    <a:pt x="125986" y="0"/>
                  </a:moveTo>
                  <a:lnTo>
                    <a:pt x="549290" y="0"/>
                  </a:lnTo>
                  <a:cubicBezTo>
                    <a:pt x="582703" y="0"/>
                    <a:pt x="614748" y="13273"/>
                    <a:pt x="638375" y="36900"/>
                  </a:cubicBezTo>
                  <a:cubicBezTo>
                    <a:pt x="662002" y="60527"/>
                    <a:pt x="675276" y="92572"/>
                    <a:pt x="675276" y="125986"/>
                  </a:cubicBezTo>
                  <a:lnTo>
                    <a:pt x="675276" y="125986"/>
                  </a:lnTo>
                  <a:cubicBezTo>
                    <a:pt x="675276" y="195566"/>
                    <a:pt x="618870" y="251972"/>
                    <a:pt x="549290" y="251972"/>
                  </a:cubicBezTo>
                  <a:lnTo>
                    <a:pt x="125986" y="251972"/>
                  </a:lnTo>
                  <a:cubicBezTo>
                    <a:pt x="56406" y="251972"/>
                    <a:pt x="0" y="195566"/>
                    <a:pt x="0" y="125986"/>
                  </a:cubicBezTo>
                  <a:lnTo>
                    <a:pt x="0" y="125986"/>
                  </a:lnTo>
                  <a:cubicBezTo>
                    <a:pt x="0" y="56406"/>
                    <a:pt x="56406" y="0"/>
                    <a:pt x="125986" y="0"/>
                  </a:cubicBezTo>
                  <a:close/>
                </a:path>
              </a:pathLst>
            </a:custGeom>
            <a:gradFill>
              <a:gsLst>
                <a:gs pos="0">
                  <a:srgbClr val="7357FF"/>
                </a:gs>
                <a:gs pos="100000">
                  <a:srgbClr val="FCAC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5"/>
            <p:cNvSpPr txBox="1"/>
            <p:nvPr/>
          </p:nvSpPr>
          <p:spPr>
            <a:xfrm>
              <a:off x="0" y="-38100"/>
              <a:ext cx="675276" cy="290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p25"/>
          <p:cNvSpPr txBox="1"/>
          <p:nvPr/>
        </p:nvSpPr>
        <p:spPr>
          <a:xfrm>
            <a:off x="3981957" y="3538985"/>
            <a:ext cx="1202128" cy="328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Full-stack web application</a:t>
            </a:r>
            <a:endParaRPr sz="700"/>
          </a:p>
        </p:txBody>
      </p:sp>
      <p:sp>
        <p:nvSpPr>
          <p:cNvPr id="140" name="Google Shape;140;p25"/>
          <p:cNvSpPr txBox="1"/>
          <p:nvPr/>
        </p:nvSpPr>
        <p:spPr>
          <a:xfrm>
            <a:off x="514350" y="4409968"/>
            <a:ext cx="2996037" cy="430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Lana HUYNH</a:t>
            </a:r>
            <a:endParaRPr sz="700"/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Yanis SAADI DIT SAADA</a:t>
            </a:r>
            <a:endParaRPr sz="700"/>
          </a:p>
        </p:txBody>
      </p:sp>
      <p:sp>
        <p:nvSpPr>
          <p:cNvPr id="141" name="Google Shape;141;p25"/>
          <p:cNvSpPr txBox="1"/>
          <p:nvPr/>
        </p:nvSpPr>
        <p:spPr>
          <a:xfrm>
            <a:off x="6255980" y="4409968"/>
            <a:ext cx="2373670" cy="211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Web programming 2026</a:t>
            </a:r>
            <a:endParaRPr sz="700"/>
          </a:p>
        </p:txBody>
      </p:sp>
      <p:sp>
        <p:nvSpPr>
          <p:cNvPr id="142" name="Google Shape;142;p25"/>
          <p:cNvSpPr txBox="1"/>
          <p:nvPr/>
        </p:nvSpPr>
        <p:spPr>
          <a:xfrm>
            <a:off x="4248014" y="4417662"/>
            <a:ext cx="637361" cy="211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endParaRPr sz="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E2E2E"/>
            </a:gs>
            <a:gs pos="50000">
              <a:srgbClr val="090909"/>
            </a:gs>
            <a:gs pos="100000">
              <a:srgbClr val="240F4D"/>
            </a:gs>
          </a:gsLst>
          <a:lin ang="27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/>
          <p:nvPr/>
        </p:nvSpPr>
        <p:spPr>
          <a:xfrm rot="384749">
            <a:off x="3419758" y="2571750"/>
            <a:ext cx="8115300" cy="3437936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sp>
        <p:nvSpPr>
          <p:cNvPr id="148" name="Google Shape;148;p26"/>
          <p:cNvSpPr/>
          <p:nvPr/>
        </p:nvSpPr>
        <p:spPr>
          <a:xfrm>
            <a:off x="-292664" y="-1718968"/>
            <a:ext cx="8115300" cy="3437936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149" name="Google Shape;149;p26"/>
          <p:cNvGrpSpPr/>
          <p:nvPr/>
        </p:nvGrpSpPr>
        <p:grpSpPr>
          <a:xfrm>
            <a:off x="7740590" y="215905"/>
            <a:ext cx="959696" cy="355589"/>
            <a:chOff x="0" y="-38100"/>
            <a:chExt cx="505529" cy="187310"/>
          </a:xfrm>
        </p:grpSpPr>
        <p:sp>
          <p:nvSpPr>
            <p:cNvPr id="150" name="Google Shape;150;p26"/>
            <p:cNvSpPr/>
            <p:nvPr/>
          </p:nvSpPr>
          <p:spPr>
            <a:xfrm>
              <a:off x="0" y="0"/>
              <a:ext cx="505529" cy="149210"/>
            </a:xfrm>
            <a:custGeom>
              <a:avLst/>
              <a:gdLst/>
              <a:ahLst/>
              <a:cxnLst/>
              <a:rect l="l" t="t" r="r" b="b"/>
              <a:pathLst>
                <a:path w="505529" h="149210" extrusionOk="0">
                  <a:moveTo>
                    <a:pt x="74605" y="0"/>
                  </a:moveTo>
                  <a:lnTo>
                    <a:pt x="430924" y="0"/>
                  </a:lnTo>
                  <a:cubicBezTo>
                    <a:pt x="472127" y="0"/>
                    <a:pt x="505529" y="33402"/>
                    <a:pt x="505529" y="74605"/>
                  </a:cubicBezTo>
                  <a:lnTo>
                    <a:pt x="505529" y="74605"/>
                  </a:lnTo>
                  <a:cubicBezTo>
                    <a:pt x="505529" y="115808"/>
                    <a:pt x="472127" y="149210"/>
                    <a:pt x="430924" y="149210"/>
                  </a:cubicBezTo>
                  <a:lnTo>
                    <a:pt x="74605" y="149210"/>
                  </a:lnTo>
                  <a:cubicBezTo>
                    <a:pt x="33402" y="149210"/>
                    <a:pt x="0" y="115808"/>
                    <a:pt x="0" y="74605"/>
                  </a:cubicBezTo>
                  <a:lnTo>
                    <a:pt x="0" y="74605"/>
                  </a:lnTo>
                  <a:cubicBezTo>
                    <a:pt x="0" y="33402"/>
                    <a:pt x="33402" y="0"/>
                    <a:pt x="74605" y="0"/>
                  </a:cubicBezTo>
                  <a:close/>
                </a:path>
              </a:pathLst>
            </a:custGeom>
            <a:gradFill>
              <a:gsLst>
                <a:gs pos="0">
                  <a:srgbClr val="7357FF"/>
                </a:gs>
                <a:gs pos="100000">
                  <a:srgbClr val="FCAC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6"/>
            <p:cNvSpPr txBox="1"/>
            <p:nvPr/>
          </p:nvSpPr>
          <p:spPr>
            <a:xfrm>
              <a:off x="0" y="-38100"/>
              <a:ext cx="505500" cy="18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6"/>
          <p:cNvSpPr txBox="1"/>
          <p:nvPr/>
        </p:nvSpPr>
        <p:spPr>
          <a:xfrm>
            <a:off x="7865125" y="331600"/>
            <a:ext cx="710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Page 02</a:t>
            </a:r>
            <a:endParaRPr sz="700"/>
          </a:p>
        </p:txBody>
      </p:sp>
      <p:sp>
        <p:nvSpPr>
          <p:cNvPr id="153" name="Google Shape;153;p26"/>
          <p:cNvSpPr txBox="1"/>
          <p:nvPr/>
        </p:nvSpPr>
        <p:spPr>
          <a:xfrm>
            <a:off x="411523" y="245077"/>
            <a:ext cx="8808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Spotly</a:t>
            </a:r>
            <a:endParaRPr sz="700">
              <a:solidFill>
                <a:schemeClr val="lt2"/>
              </a:solidFill>
            </a:endParaRPr>
          </a:p>
          <a:p>
            <a:pPr marL="0" marR="0" lvl="0" indent="0" algn="l" rtl="0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26"/>
          <p:cNvSpPr/>
          <p:nvPr/>
        </p:nvSpPr>
        <p:spPr>
          <a:xfrm>
            <a:off x="571463" y="857825"/>
            <a:ext cx="80010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92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2862"/>
              <a:buFont typeface="Playfair Display"/>
              <a:buNone/>
            </a:pPr>
            <a:r>
              <a:rPr lang="fr" sz="2862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Architecture and Technologies</a:t>
            </a:r>
            <a:endParaRPr sz="2862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6"/>
          <p:cNvSpPr/>
          <p:nvPr/>
        </p:nvSpPr>
        <p:spPr>
          <a:xfrm>
            <a:off x="571463" y="1683626"/>
            <a:ext cx="3857700" cy="3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602"/>
              <a:buFont typeface="Playfair Display"/>
              <a:buNone/>
            </a:pPr>
            <a:r>
              <a:rPr lang="fr" sz="1602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Technology Stack</a:t>
            </a:r>
            <a:endParaRPr sz="1602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6"/>
          <p:cNvSpPr/>
          <p:nvPr/>
        </p:nvSpPr>
        <p:spPr>
          <a:xfrm>
            <a:off x="571463" y="2201548"/>
            <a:ext cx="285900" cy="285900"/>
          </a:xfrm>
          <a:prstGeom prst="ellipse">
            <a:avLst/>
          </a:prstGeom>
          <a:solidFill>
            <a:srgbClr val="EC4899">
              <a:alpha val="102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7" name="Google Shape;157;p2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0044" y="2280129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1000088" y="2201548"/>
            <a:ext cx="24933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Frontend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/>
          <p:nvPr/>
        </p:nvSpPr>
        <p:spPr>
          <a:xfrm>
            <a:off x="1000088" y="2431934"/>
            <a:ext cx="2493300" cy="18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 Single Page Application (SPA).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/>
          <p:nvPr/>
        </p:nvSpPr>
        <p:spPr>
          <a:xfrm>
            <a:off x="571463" y="2758760"/>
            <a:ext cx="285900" cy="285900"/>
          </a:xfrm>
          <a:prstGeom prst="ellipse">
            <a:avLst/>
          </a:prstGeom>
          <a:solidFill>
            <a:srgbClr val="EC4899">
              <a:alpha val="102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2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8081" y="2837341"/>
            <a:ext cx="112514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6"/>
          <p:cNvSpPr/>
          <p:nvPr/>
        </p:nvSpPr>
        <p:spPr>
          <a:xfrm>
            <a:off x="1000088" y="2758760"/>
            <a:ext cx="19146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6"/>
          <p:cNvSpPr/>
          <p:nvPr/>
        </p:nvSpPr>
        <p:spPr>
          <a:xfrm>
            <a:off x="1000088" y="2989146"/>
            <a:ext cx="1914600" cy="18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Django REST Framework API.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6"/>
          <p:cNvSpPr/>
          <p:nvPr/>
        </p:nvSpPr>
        <p:spPr>
          <a:xfrm>
            <a:off x="571463" y="3315973"/>
            <a:ext cx="285900" cy="285900"/>
          </a:xfrm>
          <a:prstGeom prst="ellipse">
            <a:avLst/>
          </a:prstGeom>
          <a:solidFill>
            <a:srgbClr val="EC4899">
              <a:alpha val="102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5" name="Google Shape;165;p26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8081" y="3394554"/>
            <a:ext cx="112514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6"/>
          <p:cNvSpPr/>
          <p:nvPr/>
        </p:nvSpPr>
        <p:spPr>
          <a:xfrm>
            <a:off x="1000088" y="3315973"/>
            <a:ext cx="29199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Database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/>
          <p:nvPr/>
        </p:nvSpPr>
        <p:spPr>
          <a:xfrm>
            <a:off x="1000088" y="3546359"/>
            <a:ext cx="2919900" cy="18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Relational database (SQLite).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/>
          <p:nvPr/>
        </p:nvSpPr>
        <p:spPr>
          <a:xfrm>
            <a:off x="571463" y="3873185"/>
            <a:ext cx="285900" cy="285900"/>
          </a:xfrm>
          <a:prstGeom prst="ellipse">
            <a:avLst/>
          </a:prstGeom>
          <a:solidFill>
            <a:srgbClr val="EC4899">
              <a:alpha val="102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9" name="Google Shape;169;p26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081" y="3951766"/>
            <a:ext cx="112514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6"/>
          <p:cNvSpPr/>
          <p:nvPr/>
        </p:nvSpPr>
        <p:spPr>
          <a:xfrm>
            <a:off x="1000088" y="3873185"/>
            <a:ext cx="33147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Additional work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6"/>
          <p:cNvSpPr/>
          <p:nvPr/>
        </p:nvSpPr>
        <p:spPr>
          <a:xfrm>
            <a:off x="1000088" y="4103571"/>
            <a:ext cx="3314700" cy="18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/ Express backend used for comparison.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6"/>
          <p:cNvSpPr/>
          <p:nvPr/>
        </p:nvSpPr>
        <p:spPr>
          <a:xfrm>
            <a:off x="4714838" y="1683626"/>
            <a:ext cx="3857700" cy="3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602"/>
              <a:buFont typeface="Playfair Display"/>
              <a:buNone/>
            </a:pPr>
            <a:r>
              <a:rPr lang="fr" sz="1602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Database Models</a:t>
            </a:r>
            <a:endParaRPr sz="1602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6"/>
          <p:cNvSpPr/>
          <p:nvPr/>
        </p:nvSpPr>
        <p:spPr>
          <a:xfrm>
            <a:off x="4714838" y="2201548"/>
            <a:ext cx="3857700" cy="3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Three core relational models </a:t>
            </a:r>
            <a:r>
              <a:rPr lang="fr" sz="105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4714838" y="2652766"/>
            <a:ext cx="71400" cy="71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786238" y="2618204"/>
            <a:ext cx="3857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5125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Event: stores event details (title, date</a:t>
            </a:r>
            <a:r>
              <a:rPr lang="fr" sz="105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 status, description).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4714838" y="3278677"/>
            <a:ext cx="71400" cy="71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4786250" y="3244563"/>
            <a:ext cx="40479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5125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Participant: stores user profile and contact information.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4714838" y="3721929"/>
            <a:ext cx="71400" cy="71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6"/>
          <p:cNvSpPr/>
          <p:nvPr/>
        </p:nvSpPr>
        <p:spPr>
          <a:xfrm>
            <a:off x="4786250" y="3580500"/>
            <a:ext cx="3857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5125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Registration: links participants to events </a:t>
            </a:r>
            <a:endParaRPr sz="105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(many-to-many bridge).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E2E2E"/>
            </a:gs>
            <a:gs pos="50000">
              <a:srgbClr val="090909"/>
            </a:gs>
            <a:gs pos="100000">
              <a:srgbClr val="240F4D"/>
            </a:gs>
          </a:gsLst>
          <a:lin ang="2700006" scaled="0"/>
        </a:gra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7"/>
          <p:cNvSpPr/>
          <p:nvPr/>
        </p:nvSpPr>
        <p:spPr>
          <a:xfrm rot="378515">
            <a:off x="3423444" y="2565245"/>
            <a:ext cx="8123918" cy="3441587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sp>
        <p:nvSpPr>
          <p:cNvPr id="185" name="Google Shape;185;p27"/>
          <p:cNvSpPr/>
          <p:nvPr/>
        </p:nvSpPr>
        <p:spPr>
          <a:xfrm>
            <a:off x="-292664" y="-1718968"/>
            <a:ext cx="8115300" cy="3437936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186" name="Google Shape;186;p27"/>
          <p:cNvGrpSpPr/>
          <p:nvPr/>
        </p:nvGrpSpPr>
        <p:grpSpPr>
          <a:xfrm>
            <a:off x="7740590" y="215905"/>
            <a:ext cx="959696" cy="355589"/>
            <a:chOff x="0" y="-38100"/>
            <a:chExt cx="505529" cy="187310"/>
          </a:xfrm>
        </p:grpSpPr>
        <p:sp>
          <p:nvSpPr>
            <p:cNvPr id="187" name="Google Shape;187;p27"/>
            <p:cNvSpPr/>
            <p:nvPr/>
          </p:nvSpPr>
          <p:spPr>
            <a:xfrm>
              <a:off x="0" y="0"/>
              <a:ext cx="505529" cy="149210"/>
            </a:xfrm>
            <a:custGeom>
              <a:avLst/>
              <a:gdLst/>
              <a:ahLst/>
              <a:cxnLst/>
              <a:rect l="l" t="t" r="r" b="b"/>
              <a:pathLst>
                <a:path w="505529" h="149210" extrusionOk="0">
                  <a:moveTo>
                    <a:pt x="74605" y="0"/>
                  </a:moveTo>
                  <a:lnTo>
                    <a:pt x="430924" y="0"/>
                  </a:lnTo>
                  <a:cubicBezTo>
                    <a:pt x="472127" y="0"/>
                    <a:pt x="505529" y="33402"/>
                    <a:pt x="505529" y="74605"/>
                  </a:cubicBezTo>
                  <a:lnTo>
                    <a:pt x="505529" y="74605"/>
                  </a:lnTo>
                  <a:cubicBezTo>
                    <a:pt x="505529" y="115808"/>
                    <a:pt x="472127" y="149210"/>
                    <a:pt x="430924" y="149210"/>
                  </a:cubicBezTo>
                  <a:lnTo>
                    <a:pt x="74605" y="149210"/>
                  </a:lnTo>
                  <a:cubicBezTo>
                    <a:pt x="33402" y="149210"/>
                    <a:pt x="0" y="115808"/>
                    <a:pt x="0" y="74605"/>
                  </a:cubicBezTo>
                  <a:lnTo>
                    <a:pt x="0" y="74605"/>
                  </a:lnTo>
                  <a:cubicBezTo>
                    <a:pt x="0" y="33402"/>
                    <a:pt x="33402" y="0"/>
                    <a:pt x="74605" y="0"/>
                  </a:cubicBezTo>
                  <a:close/>
                </a:path>
              </a:pathLst>
            </a:custGeom>
            <a:gradFill>
              <a:gsLst>
                <a:gs pos="0">
                  <a:srgbClr val="7357FF"/>
                </a:gs>
                <a:gs pos="100000">
                  <a:srgbClr val="FCAC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7"/>
            <p:cNvSpPr txBox="1"/>
            <p:nvPr/>
          </p:nvSpPr>
          <p:spPr>
            <a:xfrm>
              <a:off x="0" y="-38100"/>
              <a:ext cx="505500" cy="18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9" name="Google Shape;189;p27"/>
          <p:cNvSpPr/>
          <p:nvPr/>
        </p:nvSpPr>
        <p:spPr>
          <a:xfrm>
            <a:off x="3281075" y="353690"/>
            <a:ext cx="716424" cy="716424"/>
          </a:xfrm>
          <a:custGeom>
            <a:avLst/>
            <a:gdLst/>
            <a:ahLst/>
            <a:cxnLst/>
            <a:rect l="l" t="t" r="r" b="b"/>
            <a:pathLst>
              <a:path w="1432847" h="1432847" extrusionOk="0">
                <a:moveTo>
                  <a:pt x="0" y="0"/>
                </a:moveTo>
                <a:lnTo>
                  <a:pt x="1432847" y="0"/>
                </a:lnTo>
                <a:lnTo>
                  <a:pt x="1432847" y="1432848"/>
                </a:lnTo>
                <a:lnTo>
                  <a:pt x="0" y="14328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0" name="Google Shape;190;p27"/>
          <p:cNvSpPr txBox="1"/>
          <p:nvPr/>
        </p:nvSpPr>
        <p:spPr>
          <a:xfrm>
            <a:off x="7869887" y="325439"/>
            <a:ext cx="710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Page 03</a:t>
            </a:r>
            <a:endParaRPr sz="700"/>
          </a:p>
        </p:txBody>
      </p:sp>
      <p:sp>
        <p:nvSpPr>
          <p:cNvPr id="191" name="Google Shape;191;p27"/>
          <p:cNvSpPr txBox="1"/>
          <p:nvPr/>
        </p:nvSpPr>
        <p:spPr>
          <a:xfrm>
            <a:off x="411523" y="245078"/>
            <a:ext cx="8808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b="1">
                <a:solidFill>
                  <a:schemeClr val="lt2"/>
                </a:solidFill>
              </a:rPr>
              <a:t>Spotly</a:t>
            </a:r>
            <a:endParaRPr sz="700">
              <a:solidFill>
                <a:schemeClr val="lt2"/>
              </a:solidFill>
            </a:endParaRPr>
          </a:p>
        </p:txBody>
      </p:sp>
      <p:sp>
        <p:nvSpPr>
          <p:cNvPr id="192" name="Google Shape;192;p27"/>
          <p:cNvSpPr txBox="1"/>
          <p:nvPr/>
        </p:nvSpPr>
        <p:spPr>
          <a:xfrm>
            <a:off x="411523" y="405608"/>
            <a:ext cx="8808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/>
          </a:p>
        </p:txBody>
      </p:sp>
      <p:sp>
        <p:nvSpPr>
          <p:cNvPr id="193" name="Google Shape;193;p27"/>
          <p:cNvSpPr/>
          <p:nvPr/>
        </p:nvSpPr>
        <p:spPr>
          <a:xfrm>
            <a:off x="571500" y="513300"/>
            <a:ext cx="8001000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92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2862"/>
              <a:buFont typeface="Playfair Display"/>
              <a:buNone/>
            </a:pPr>
            <a:r>
              <a:rPr lang="fr" sz="2862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Main Features</a:t>
            </a:r>
            <a:endParaRPr sz="2862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7"/>
          <p:cNvSpPr/>
          <p:nvPr/>
        </p:nvSpPr>
        <p:spPr>
          <a:xfrm>
            <a:off x="571500" y="1323346"/>
            <a:ext cx="243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602"/>
              <a:buFont typeface="Playfair Display"/>
              <a:buNone/>
            </a:pPr>
            <a:r>
              <a:rPr lang="fr" sz="1602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01</a:t>
            </a:r>
            <a:endParaRPr sz="1602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921543" y="1340277"/>
            <a:ext cx="1778700" cy="2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6005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397"/>
              <a:buFont typeface="Playfair Display"/>
              <a:buNone/>
            </a:pPr>
            <a:r>
              <a:rPr lang="fr" sz="1397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Event Management</a:t>
            </a:r>
            <a:endParaRPr sz="1397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7"/>
          <p:cNvSpPr/>
          <p:nvPr/>
        </p:nvSpPr>
        <p:spPr>
          <a:xfrm>
            <a:off x="892968" y="1694194"/>
            <a:ext cx="33933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Create, update, delete, list, and filter events.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7"/>
          <p:cNvSpPr/>
          <p:nvPr/>
        </p:nvSpPr>
        <p:spPr>
          <a:xfrm>
            <a:off x="892968" y="1952176"/>
            <a:ext cx="33933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 event details including date and status.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7"/>
          <p:cNvSpPr/>
          <p:nvPr/>
        </p:nvSpPr>
        <p:spPr>
          <a:xfrm>
            <a:off x="892968" y="2242183"/>
            <a:ext cx="33933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CRUD operations exposed via REST API.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7"/>
          <p:cNvSpPr/>
          <p:nvPr/>
        </p:nvSpPr>
        <p:spPr>
          <a:xfrm>
            <a:off x="714375" y="1694194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7"/>
          <p:cNvSpPr/>
          <p:nvPr/>
        </p:nvSpPr>
        <p:spPr>
          <a:xfrm>
            <a:off x="714375" y="1952176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7"/>
          <p:cNvSpPr/>
          <p:nvPr/>
        </p:nvSpPr>
        <p:spPr>
          <a:xfrm>
            <a:off x="714375" y="2224355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7"/>
          <p:cNvSpPr/>
          <p:nvPr/>
        </p:nvSpPr>
        <p:spPr>
          <a:xfrm>
            <a:off x="4857740" y="1323346"/>
            <a:ext cx="280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602"/>
              <a:buFont typeface="Playfair Display"/>
              <a:buNone/>
            </a:pPr>
            <a:r>
              <a:rPr lang="fr" sz="1602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02</a:t>
            </a:r>
            <a:endParaRPr sz="1602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7"/>
          <p:cNvSpPr/>
          <p:nvPr/>
        </p:nvSpPr>
        <p:spPr>
          <a:xfrm>
            <a:off x="5245287" y="1340277"/>
            <a:ext cx="2316300" cy="2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6005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397"/>
              <a:buFont typeface="Playfair Display"/>
              <a:buNone/>
            </a:pPr>
            <a:r>
              <a:rPr lang="fr" sz="1397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Participant Management</a:t>
            </a:r>
            <a:endParaRPr sz="1397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7"/>
          <p:cNvSpPr/>
          <p:nvPr/>
        </p:nvSpPr>
        <p:spPr>
          <a:xfrm>
            <a:off x="5179208" y="1694194"/>
            <a:ext cx="33933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Create, update, delete, and list participants.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7"/>
          <p:cNvSpPr/>
          <p:nvPr/>
        </p:nvSpPr>
        <p:spPr>
          <a:xfrm>
            <a:off x="5179208" y="1952176"/>
            <a:ext cx="33933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 user profiles and contact information.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5179208" y="2210157"/>
            <a:ext cx="33933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Linked to events through the Registration model.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5000614" y="1694194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5000614" y="1952176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7"/>
          <p:cNvSpPr/>
          <p:nvPr/>
        </p:nvSpPr>
        <p:spPr>
          <a:xfrm>
            <a:off x="5000614" y="2210157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7"/>
          <p:cNvSpPr/>
          <p:nvPr/>
        </p:nvSpPr>
        <p:spPr>
          <a:xfrm>
            <a:off x="571500" y="3306577"/>
            <a:ext cx="271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602"/>
              <a:buFont typeface="Playfair Display"/>
              <a:buNone/>
            </a:pPr>
            <a:r>
              <a:rPr lang="fr" sz="1602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03</a:t>
            </a:r>
            <a:endParaRPr sz="1602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7"/>
          <p:cNvSpPr/>
          <p:nvPr/>
        </p:nvSpPr>
        <p:spPr>
          <a:xfrm>
            <a:off x="950118" y="3323508"/>
            <a:ext cx="1880700" cy="2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6005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397"/>
              <a:buFont typeface="Playfair Display"/>
              <a:buNone/>
            </a:pPr>
            <a:r>
              <a:rPr lang="fr" sz="1397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Registration System</a:t>
            </a:r>
            <a:endParaRPr sz="1397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892968" y="3677426"/>
            <a:ext cx="33933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Link participants to events through a dedicated Registration model.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7"/>
          <p:cNvSpPr/>
          <p:nvPr/>
        </p:nvSpPr>
        <p:spPr>
          <a:xfrm>
            <a:off x="892968" y="4263575"/>
            <a:ext cx="33933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Supports querying registrations by event or participant.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7"/>
          <p:cNvSpPr/>
          <p:nvPr/>
        </p:nvSpPr>
        <p:spPr>
          <a:xfrm>
            <a:off x="714375" y="3677426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7"/>
          <p:cNvSpPr/>
          <p:nvPr/>
        </p:nvSpPr>
        <p:spPr>
          <a:xfrm>
            <a:off x="714375" y="4263575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7"/>
          <p:cNvSpPr/>
          <p:nvPr/>
        </p:nvSpPr>
        <p:spPr>
          <a:xfrm>
            <a:off x="4857740" y="3306577"/>
            <a:ext cx="2751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602"/>
              <a:buFont typeface="Playfair Display"/>
              <a:buNone/>
            </a:pPr>
            <a:r>
              <a:rPr lang="fr" sz="1602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04</a:t>
            </a:r>
            <a:endParaRPr sz="1602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7"/>
          <p:cNvSpPr/>
          <p:nvPr/>
        </p:nvSpPr>
        <p:spPr>
          <a:xfrm>
            <a:off x="5239930" y="3323508"/>
            <a:ext cx="2189700" cy="2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6005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397"/>
              <a:buFont typeface="Playfair Display"/>
              <a:buNone/>
            </a:pPr>
            <a:r>
              <a:rPr lang="fr" sz="1397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Authentication &amp; Roles</a:t>
            </a:r>
            <a:endParaRPr sz="1397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5179208" y="3677426"/>
            <a:ext cx="33933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Staff users can modify data (full read/write access).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7"/>
          <p:cNvSpPr/>
          <p:nvPr/>
        </p:nvSpPr>
        <p:spPr>
          <a:xfrm>
            <a:off x="5179208" y="4128893"/>
            <a:ext cx="33933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Viewers have read-only access to the </a:t>
            </a:r>
            <a:r>
              <a:rPr lang="fr" sz="105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7"/>
          <p:cNvSpPr/>
          <p:nvPr/>
        </p:nvSpPr>
        <p:spPr>
          <a:xfrm>
            <a:off x="5179208" y="4580360"/>
            <a:ext cx="33933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JWT or session-based authentication flow.</a:t>
            </a:r>
            <a:endParaRPr sz="1050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7"/>
          <p:cNvSpPr/>
          <p:nvPr/>
        </p:nvSpPr>
        <p:spPr>
          <a:xfrm>
            <a:off x="5000614" y="3677426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7"/>
          <p:cNvSpPr/>
          <p:nvPr/>
        </p:nvSpPr>
        <p:spPr>
          <a:xfrm>
            <a:off x="5000614" y="4128893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7"/>
          <p:cNvSpPr/>
          <p:nvPr/>
        </p:nvSpPr>
        <p:spPr>
          <a:xfrm>
            <a:off x="5000614" y="4580360"/>
            <a:ext cx="130500" cy="1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0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 rot="10800000">
            <a:off x="7537508" y="1103232"/>
            <a:ext cx="1375431" cy="1375431"/>
          </a:xfrm>
          <a:custGeom>
            <a:avLst/>
            <a:gdLst/>
            <a:ahLst/>
            <a:cxnLst/>
            <a:rect l="l" t="t" r="r" b="b"/>
            <a:pathLst>
              <a:path w="2750861" h="2750861" extrusionOk="0">
                <a:moveTo>
                  <a:pt x="2750861" y="2750861"/>
                </a:moveTo>
                <a:lnTo>
                  <a:pt x="0" y="2750861"/>
                </a:lnTo>
                <a:lnTo>
                  <a:pt x="0" y="0"/>
                </a:lnTo>
                <a:lnTo>
                  <a:pt x="2750861" y="0"/>
                </a:lnTo>
                <a:lnTo>
                  <a:pt x="2750861" y="2750861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E2E2E"/>
            </a:gs>
            <a:gs pos="50000">
              <a:srgbClr val="090909"/>
            </a:gs>
            <a:gs pos="100000">
              <a:srgbClr val="240F4D"/>
            </a:gs>
          </a:gsLst>
          <a:lin ang="2700006" scaled="0"/>
        </a:gra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8"/>
          <p:cNvSpPr/>
          <p:nvPr/>
        </p:nvSpPr>
        <p:spPr>
          <a:xfrm rot="378515">
            <a:off x="3423444" y="2565245"/>
            <a:ext cx="8123918" cy="3441587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sp>
        <p:nvSpPr>
          <p:cNvPr id="230" name="Google Shape;230;p28"/>
          <p:cNvSpPr/>
          <p:nvPr/>
        </p:nvSpPr>
        <p:spPr>
          <a:xfrm>
            <a:off x="-292664" y="-1718968"/>
            <a:ext cx="8115300" cy="3437936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231" name="Google Shape;231;p28"/>
          <p:cNvGrpSpPr/>
          <p:nvPr/>
        </p:nvGrpSpPr>
        <p:grpSpPr>
          <a:xfrm>
            <a:off x="7740590" y="215905"/>
            <a:ext cx="959696" cy="355589"/>
            <a:chOff x="0" y="-38100"/>
            <a:chExt cx="505529" cy="187310"/>
          </a:xfrm>
        </p:grpSpPr>
        <p:sp>
          <p:nvSpPr>
            <p:cNvPr id="232" name="Google Shape;232;p28"/>
            <p:cNvSpPr/>
            <p:nvPr/>
          </p:nvSpPr>
          <p:spPr>
            <a:xfrm>
              <a:off x="0" y="0"/>
              <a:ext cx="505529" cy="149210"/>
            </a:xfrm>
            <a:custGeom>
              <a:avLst/>
              <a:gdLst/>
              <a:ahLst/>
              <a:cxnLst/>
              <a:rect l="l" t="t" r="r" b="b"/>
              <a:pathLst>
                <a:path w="505529" h="149210" extrusionOk="0">
                  <a:moveTo>
                    <a:pt x="74605" y="0"/>
                  </a:moveTo>
                  <a:lnTo>
                    <a:pt x="430924" y="0"/>
                  </a:lnTo>
                  <a:cubicBezTo>
                    <a:pt x="472127" y="0"/>
                    <a:pt x="505529" y="33402"/>
                    <a:pt x="505529" y="74605"/>
                  </a:cubicBezTo>
                  <a:lnTo>
                    <a:pt x="505529" y="74605"/>
                  </a:lnTo>
                  <a:cubicBezTo>
                    <a:pt x="505529" y="115808"/>
                    <a:pt x="472127" y="149210"/>
                    <a:pt x="430924" y="149210"/>
                  </a:cubicBezTo>
                  <a:lnTo>
                    <a:pt x="74605" y="149210"/>
                  </a:lnTo>
                  <a:cubicBezTo>
                    <a:pt x="33402" y="149210"/>
                    <a:pt x="0" y="115808"/>
                    <a:pt x="0" y="74605"/>
                  </a:cubicBezTo>
                  <a:lnTo>
                    <a:pt x="0" y="74605"/>
                  </a:lnTo>
                  <a:cubicBezTo>
                    <a:pt x="0" y="33402"/>
                    <a:pt x="33402" y="0"/>
                    <a:pt x="74605" y="0"/>
                  </a:cubicBezTo>
                  <a:close/>
                </a:path>
              </a:pathLst>
            </a:custGeom>
            <a:gradFill>
              <a:gsLst>
                <a:gs pos="0">
                  <a:srgbClr val="7357FF"/>
                </a:gs>
                <a:gs pos="100000">
                  <a:srgbClr val="FCAC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8"/>
            <p:cNvSpPr txBox="1"/>
            <p:nvPr/>
          </p:nvSpPr>
          <p:spPr>
            <a:xfrm>
              <a:off x="0" y="-38100"/>
              <a:ext cx="505500" cy="18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8"/>
          <p:cNvSpPr/>
          <p:nvPr/>
        </p:nvSpPr>
        <p:spPr>
          <a:xfrm rot="10800000">
            <a:off x="411525" y="910216"/>
            <a:ext cx="1375431" cy="1375431"/>
          </a:xfrm>
          <a:custGeom>
            <a:avLst/>
            <a:gdLst/>
            <a:ahLst/>
            <a:cxnLst/>
            <a:rect l="l" t="t" r="r" b="b"/>
            <a:pathLst>
              <a:path w="2750861" h="2750861" extrusionOk="0">
                <a:moveTo>
                  <a:pt x="2750861" y="2750861"/>
                </a:moveTo>
                <a:lnTo>
                  <a:pt x="0" y="2750861"/>
                </a:lnTo>
                <a:lnTo>
                  <a:pt x="0" y="0"/>
                </a:lnTo>
                <a:lnTo>
                  <a:pt x="2750861" y="0"/>
                </a:lnTo>
                <a:lnTo>
                  <a:pt x="2750861" y="2750861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5" name="Google Shape;235;p28"/>
          <p:cNvSpPr txBox="1"/>
          <p:nvPr/>
        </p:nvSpPr>
        <p:spPr>
          <a:xfrm>
            <a:off x="7865125" y="331600"/>
            <a:ext cx="710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Page 04</a:t>
            </a:r>
            <a:endParaRPr sz="700"/>
          </a:p>
        </p:txBody>
      </p:sp>
      <p:sp>
        <p:nvSpPr>
          <p:cNvPr id="236" name="Google Shape;236;p28"/>
          <p:cNvSpPr txBox="1"/>
          <p:nvPr/>
        </p:nvSpPr>
        <p:spPr>
          <a:xfrm>
            <a:off x="411523" y="245078"/>
            <a:ext cx="8808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b="1">
                <a:solidFill>
                  <a:schemeClr val="lt2"/>
                </a:solidFill>
              </a:rPr>
              <a:t>Spotly</a:t>
            </a:r>
            <a:endParaRPr sz="700">
              <a:solidFill>
                <a:schemeClr val="lt2"/>
              </a:solidFill>
            </a:endParaRPr>
          </a:p>
        </p:txBody>
      </p:sp>
      <p:sp>
        <p:nvSpPr>
          <p:cNvPr id="237" name="Google Shape;237;p28"/>
          <p:cNvSpPr/>
          <p:nvPr/>
        </p:nvSpPr>
        <p:spPr>
          <a:xfrm>
            <a:off x="571500" y="780650"/>
            <a:ext cx="80010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92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2862"/>
              <a:buFont typeface="Playfair Display"/>
              <a:buNone/>
            </a:pPr>
            <a:r>
              <a:rPr lang="fr" sz="2862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Integration and Deployment</a:t>
            </a:r>
            <a:endParaRPr sz="2862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8"/>
          <p:cNvSpPr/>
          <p:nvPr/>
        </p:nvSpPr>
        <p:spPr>
          <a:xfrm>
            <a:off x="857250" y="1713607"/>
            <a:ext cx="228600" cy="228600"/>
          </a:xfrm>
          <a:prstGeom prst="ellipse">
            <a:avLst/>
          </a:prstGeom>
          <a:solidFill>
            <a:srgbClr val="FFFFFF"/>
          </a:solidFill>
          <a:ln w="18275" cap="flat" cmpd="sng">
            <a:solidFill>
              <a:srgbClr val="EC48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28"/>
          <p:cNvSpPr/>
          <p:nvPr/>
        </p:nvSpPr>
        <p:spPr>
          <a:xfrm>
            <a:off x="857250" y="1713607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306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784"/>
              <a:buFont typeface="Space Grotesk"/>
              <a:buNone/>
            </a:pPr>
            <a:r>
              <a:rPr lang="fr" sz="784" b="1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1</a:t>
            </a:r>
            <a:endParaRPr sz="784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8"/>
          <p:cNvSpPr/>
          <p:nvPr/>
        </p:nvSpPr>
        <p:spPr>
          <a:xfrm>
            <a:off x="1300163" y="1677888"/>
            <a:ext cx="58524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8996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295"/>
              <a:buFont typeface="Playfair Display"/>
              <a:buNone/>
            </a:pPr>
            <a:r>
              <a:rPr lang="fr" sz="1295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API Integration</a:t>
            </a:r>
            <a:endParaRPr sz="1295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8"/>
          <p:cNvSpPr/>
          <p:nvPr/>
        </p:nvSpPr>
        <p:spPr>
          <a:xfrm>
            <a:off x="1300163" y="1997571"/>
            <a:ext cx="58524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 components were connected to the Django API using asynchronous requests.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8"/>
          <p:cNvSpPr/>
          <p:nvPr/>
        </p:nvSpPr>
        <p:spPr>
          <a:xfrm>
            <a:off x="857250" y="2497634"/>
            <a:ext cx="228600" cy="228600"/>
          </a:xfrm>
          <a:prstGeom prst="ellipse">
            <a:avLst/>
          </a:prstGeom>
          <a:solidFill>
            <a:srgbClr val="FFFFFF"/>
          </a:solidFill>
          <a:ln w="18275" cap="flat" cmpd="sng">
            <a:solidFill>
              <a:srgbClr val="EC48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8"/>
          <p:cNvSpPr/>
          <p:nvPr/>
        </p:nvSpPr>
        <p:spPr>
          <a:xfrm>
            <a:off x="857250" y="2497634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306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784"/>
              <a:buFont typeface="Space Grotesk"/>
              <a:buNone/>
            </a:pPr>
            <a:r>
              <a:rPr lang="fr" sz="784" b="1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2</a:t>
            </a:r>
            <a:endParaRPr sz="784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8"/>
          <p:cNvSpPr/>
          <p:nvPr/>
        </p:nvSpPr>
        <p:spPr>
          <a:xfrm>
            <a:off x="1300163" y="2461915"/>
            <a:ext cx="64293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8996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295"/>
              <a:buFont typeface="Playfair Display"/>
              <a:buNone/>
            </a:pPr>
            <a:r>
              <a:rPr lang="fr" sz="1295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Authentication Flow</a:t>
            </a:r>
            <a:endParaRPr sz="1295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8"/>
          <p:cNvSpPr/>
          <p:nvPr/>
        </p:nvSpPr>
        <p:spPr>
          <a:xfrm>
            <a:off x="1300163" y="2781598"/>
            <a:ext cx="64293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Protected routes and authentication were implemented to control access to the application.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8"/>
          <p:cNvSpPr/>
          <p:nvPr/>
        </p:nvSpPr>
        <p:spPr>
          <a:xfrm>
            <a:off x="857250" y="3495973"/>
            <a:ext cx="228600" cy="228600"/>
          </a:xfrm>
          <a:prstGeom prst="ellipse">
            <a:avLst/>
          </a:prstGeom>
          <a:solidFill>
            <a:srgbClr val="FFFFFF"/>
          </a:solidFill>
          <a:ln w="18275" cap="flat" cmpd="sng">
            <a:solidFill>
              <a:srgbClr val="EC48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8"/>
          <p:cNvSpPr/>
          <p:nvPr/>
        </p:nvSpPr>
        <p:spPr>
          <a:xfrm>
            <a:off x="857250" y="3495973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306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784"/>
              <a:buFont typeface="Space Grotesk"/>
              <a:buNone/>
            </a:pPr>
            <a:r>
              <a:rPr lang="fr" sz="784" b="1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3</a:t>
            </a:r>
            <a:endParaRPr sz="784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8"/>
          <p:cNvSpPr/>
          <p:nvPr/>
        </p:nvSpPr>
        <p:spPr>
          <a:xfrm>
            <a:off x="1300163" y="3460254"/>
            <a:ext cx="54381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8996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295"/>
              <a:buFont typeface="Playfair Display"/>
              <a:buNone/>
            </a:pPr>
            <a:r>
              <a:rPr lang="fr" sz="1295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User Experience</a:t>
            </a:r>
            <a:endParaRPr sz="1295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8"/>
          <p:cNvSpPr/>
          <p:nvPr/>
        </p:nvSpPr>
        <p:spPr>
          <a:xfrm>
            <a:off x="1300163" y="3779937"/>
            <a:ext cx="54381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Loading states and error handling were added</a:t>
            </a:r>
            <a:r>
              <a:rPr lang="fr" sz="105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.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8"/>
          <p:cNvSpPr/>
          <p:nvPr/>
        </p:nvSpPr>
        <p:spPr>
          <a:xfrm>
            <a:off x="857250" y="4279999"/>
            <a:ext cx="228600" cy="228600"/>
          </a:xfrm>
          <a:prstGeom prst="ellipse">
            <a:avLst/>
          </a:prstGeom>
          <a:solidFill>
            <a:srgbClr val="FFFFFF"/>
          </a:solidFill>
          <a:ln w="18275" cap="flat" cmpd="sng">
            <a:solidFill>
              <a:srgbClr val="EC48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28"/>
          <p:cNvSpPr/>
          <p:nvPr/>
        </p:nvSpPr>
        <p:spPr>
          <a:xfrm>
            <a:off x="857250" y="4279999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306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784"/>
              <a:buFont typeface="Space Grotesk"/>
              <a:buNone/>
            </a:pPr>
            <a:r>
              <a:rPr lang="fr" sz="784" b="1" i="0" u="none" strike="noStrike" cap="none">
                <a:solidFill>
                  <a:srgbClr val="EC4899"/>
                </a:solidFill>
                <a:latin typeface="Space Grotesk"/>
                <a:ea typeface="Space Grotesk"/>
                <a:cs typeface="Space Grotesk"/>
                <a:sym typeface="Space Grotesk"/>
              </a:rPr>
              <a:t>4</a:t>
            </a:r>
            <a:endParaRPr sz="784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8"/>
          <p:cNvSpPr/>
          <p:nvPr/>
        </p:nvSpPr>
        <p:spPr>
          <a:xfrm>
            <a:off x="1300163" y="4244280"/>
            <a:ext cx="5095200" cy="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8996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295"/>
              <a:buFont typeface="Playfair Display"/>
              <a:buNone/>
            </a:pPr>
            <a:r>
              <a:rPr lang="fr" sz="1295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Production Deployment</a:t>
            </a:r>
            <a:endParaRPr sz="1295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8"/>
          <p:cNvSpPr/>
          <p:nvPr/>
        </p:nvSpPr>
        <p:spPr>
          <a:xfrm>
            <a:off x="1300163" y="4563963"/>
            <a:ext cx="5095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190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050"/>
              <a:buFont typeface="Space Grotesk"/>
              <a:buNone/>
            </a:pPr>
            <a:r>
              <a:rPr lang="fr" sz="105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frontend and backend were then deployed and tested in production.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4" name="Google Shape;254;p28"/>
          <p:cNvCxnSpPr>
            <a:stCxn id="239" idx="2"/>
            <a:endCxn id="243" idx="0"/>
          </p:cNvCxnSpPr>
          <p:nvPr/>
        </p:nvCxnSpPr>
        <p:spPr>
          <a:xfrm rot="-5400000" flipH="1">
            <a:off x="694200" y="2219557"/>
            <a:ext cx="555300" cy="600"/>
          </a:xfrm>
          <a:prstGeom prst="bentConnector3">
            <a:avLst>
              <a:gd name="adj1" fmla="val 50011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5" name="Google Shape;255;p28"/>
          <p:cNvCxnSpPr>
            <a:stCxn id="243" idx="2"/>
            <a:endCxn id="247" idx="0"/>
          </p:cNvCxnSpPr>
          <p:nvPr/>
        </p:nvCxnSpPr>
        <p:spPr>
          <a:xfrm rot="-5400000" flipH="1">
            <a:off x="586950" y="3110834"/>
            <a:ext cx="769800" cy="600"/>
          </a:xfrm>
          <a:prstGeom prst="bentConnector3">
            <a:avLst>
              <a:gd name="adj1" fmla="val 4999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8"/>
          <p:cNvCxnSpPr>
            <a:stCxn id="247" idx="2"/>
            <a:endCxn id="251" idx="0"/>
          </p:cNvCxnSpPr>
          <p:nvPr/>
        </p:nvCxnSpPr>
        <p:spPr>
          <a:xfrm rot="-5400000" flipH="1">
            <a:off x="694200" y="4001923"/>
            <a:ext cx="555300" cy="600"/>
          </a:xfrm>
          <a:prstGeom prst="bentConnector3">
            <a:avLst>
              <a:gd name="adj1" fmla="val 50011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7" name="Google Shape;257;p28"/>
          <p:cNvSpPr/>
          <p:nvPr/>
        </p:nvSpPr>
        <p:spPr>
          <a:xfrm rot="4579257" flipH="1">
            <a:off x="5009107" y="3333184"/>
            <a:ext cx="7156534" cy="6362331"/>
          </a:xfrm>
          <a:custGeom>
            <a:avLst/>
            <a:gdLst/>
            <a:ahLst/>
            <a:cxnLst/>
            <a:rect l="l" t="t" r="r" b="b"/>
            <a:pathLst>
              <a:path w="7358247" h="7358247" extrusionOk="0">
                <a:moveTo>
                  <a:pt x="0" y="7358246"/>
                </a:moveTo>
                <a:lnTo>
                  <a:pt x="7358246" y="7358246"/>
                </a:lnTo>
                <a:lnTo>
                  <a:pt x="7358246" y="0"/>
                </a:lnTo>
                <a:lnTo>
                  <a:pt x="0" y="0"/>
                </a:lnTo>
                <a:lnTo>
                  <a:pt x="0" y="7358246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E2E2E"/>
            </a:gs>
            <a:gs pos="50000">
              <a:srgbClr val="090909"/>
            </a:gs>
            <a:gs pos="100000">
              <a:srgbClr val="240F4D"/>
            </a:gs>
          </a:gsLst>
          <a:lin ang="2700006" scaled="0"/>
        </a:gra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9"/>
          <p:cNvSpPr/>
          <p:nvPr/>
        </p:nvSpPr>
        <p:spPr>
          <a:xfrm rot="378515">
            <a:off x="3423444" y="2565245"/>
            <a:ext cx="8123918" cy="3441587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sp>
        <p:nvSpPr>
          <p:cNvPr id="263" name="Google Shape;263;p29"/>
          <p:cNvSpPr/>
          <p:nvPr/>
        </p:nvSpPr>
        <p:spPr>
          <a:xfrm>
            <a:off x="-292664" y="-1718968"/>
            <a:ext cx="8115300" cy="3437936"/>
          </a:xfrm>
          <a:custGeom>
            <a:avLst/>
            <a:gdLst/>
            <a:ahLst/>
            <a:cxnLst/>
            <a:rect l="l" t="t" r="r" b="b"/>
            <a:pathLst>
              <a:path w="16230600" h="6875872" extrusionOk="0">
                <a:moveTo>
                  <a:pt x="0" y="0"/>
                </a:moveTo>
                <a:lnTo>
                  <a:pt x="16230600" y="0"/>
                </a:lnTo>
                <a:lnTo>
                  <a:pt x="16230600" y="6875872"/>
                </a:lnTo>
                <a:lnTo>
                  <a:pt x="0" y="68758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40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264" name="Google Shape;264;p29"/>
          <p:cNvGrpSpPr/>
          <p:nvPr/>
        </p:nvGrpSpPr>
        <p:grpSpPr>
          <a:xfrm>
            <a:off x="7740590" y="215905"/>
            <a:ext cx="959696" cy="355589"/>
            <a:chOff x="0" y="-38100"/>
            <a:chExt cx="505529" cy="187310"/>
          </a:xfrm>
        </p:grpSpPr>
        <p:sp>
          <p:nvSpPr>
            <p:cNvPr id="265" name="Google Shape;265;p29"/>
            <p:cNvSpPr/>
            <p:nvPr/>
          </p:nvSpPr>
          <p:spPr>
            <a:xfrm>
              <a:off x="0" y="0"/>
              <a:ext cx="505529" cy="149210"/>
            </a:xfrm>
            <a:custGeom>
              <a:avLst/>
              <a:gdLst/>
              <a:ahLst/>
              <a:cxnLst/>
              <a:rect l="l" t="t" r="r" b="b"/>
              <a:pathLst>
                <a:path w="505529" h="149210" extrusionOk="0">
                  <a:moveTo>
                    <a:pt x="74605" y="0"/>
                  </a:moveTo>
                  <a:lnTo>
                    <a:pt x="430924" y="0"/>
                  </a:lnTo>
                  <a:cubicBezTo>
                    <a:pt x="472127" y="0"/>
                    <a:pt x="505529" y="33402"/>
                    <a:pt x="505529" y="74605"/>
                  </a:cubicBezTo>
                  <a:lnTo>
                    <a:pt x="505529" y="74605"/>
                  </a:lnTo>
                  <a:cubicBezTo>
                    <a:pt x="505529" y="115808"/>
                    <a:pt x="472127" y="149210"/>
                    <a:pt x="430924" y="149210"/>
                  </a:cubicBezTo>
                  <a:lnTo>
                    <a:pt x="74605" y="149210"/>
                  </a:lnTo>
                  <a:cubicBezTo>
                    <a:pt x="33402" y="149210"/>
                    <a:pt x="0" y="115808"/>
                    <a:pt x="0" y="74605"/>
                  </a:cubicBezTo>
                  <a:lnTo>
                    <a:pt x="0" y="74605"/>
                  </a:lnTo>
                  <a:cubicBezTo>
                    <a:pt x="0" y="33402"/>
                    <a:pt x="33402" y="0"/>
                    <a:pt x="74605" y="0"/>
                  </a:cubicBezTo>
                  <a:close/>
                </a:path>
              </a:pathLst>
            </a:custGeom>
            <a:gradFill>
              <a:gsLst>
                <a:gs pos="0">
                  <a:srgbClr val="7357FF"/>
                </a:gs>
                <a:gs pos="100000">
                  <a:srgbClr val="FCACF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9"/>
            <p:cNvSpPr txBox="1"/>
            <p:nvPr/>
          </p:nvSpPr>
          <p:spPr>
            <a:xfrm>
              <a:off x="0" y="-38100"/>
              <a:ext cx="505500" cy="18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" name="Google Shape;267;p29"/>
          <p:cNvSpPr txBox="1"/>
          <p:nvPr/>
        </p:nvSpPr>
        <p:spPr>
          <a:xfrm>
            <a:off x="7865125" y="331600"/>
            <a:ext cx="710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Page 05</a:t>
            </a:r>
            <a:endParaRPr sz="700"/>
          </a:p>
        </p:txBody>
      </p:sp>
      <p:sp>
        <p:nvSpPr>
          <p:cNvPr id="268" name="Google Shape;268;p29"/>
          <p:cNvSpPr txBox="1"/>
          <p:nvPr/>
        </p:nvSpPr>
        <p:spPr>
          <a:xfrm>
            <a:off x="411523" y="245078"/>
            <a:ext cx="8808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b="1">
                <a:solidFill>
                  <a:schemeClr val="lt2"/>
                </a:solidFill>
              </a:rPr>
              <a:t>Spotly</a:t>
            </a:r>
            <a:endParaRPr sz="700">
              <a:solidFill>
                <a:schemeClr val="lt2"/>
              </a:solidFill>
            </a:endParaRPr>
          </a:p>
        </p:txBody>
      </p:sp>
      <p:sp>
        <p:nvSpPr>
          <p:cNvPr id="269" name="Google Shape;269;p29"/>
          <p:cNvSpPr/>
          <p:nvPr/>
        </p:nvSpPr>
        <p:spPr>
          <a:xfrm rot="6404386" flipH="1">
            <a:off x="-3028968" y="3292738"/>
            <a:ext cx="7472562" cy="6605666"/>
          </a:xfrm>
          <a:custGeom>
            <a:avLst/>
            <a:gdLst/>
            <a:ahLst/>
            <a:cxnLst/>
            <a:rect l="l" t="t" r="r" b="b"/>
            <a:pathLst>
              <a:path w="7358247" h="7358247" extrusionOk="0">
                <a:moveTo>
                  <a:pt x="0" y="7358246"/>
                </a:moveTo>
                <a:lnTo>
                  <a:pt x="7358246" y="7358246"/>
                </a:lnTo>
                <a:lnTo>
                  <a:pt x="7358246" y="0"/>
                </a:lnTo>
                <a:lnTo>
                  <a:pt x="0" y="0"/>
                </a:lnTo>
                <a:lnTo>
                  <a:pt x="0" y="7358246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70" name="Google Shape;270;p29"/>
          <p:cNvSpPr/>
          <p:nvPr/>
        </p:nvSpPr>
        <p:spPr>
          <a:xfrm>
            <a:off x="571450" y="750200"/>
            <a:ext cx="80010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92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2862"/>
              <a:buFont typeface="Playfair Display"/>
              <a:buNone/>
            </a:pPr>
            <a:r>
              <a:rPr lang="fr" sz="2862" b="1" i="0" u="none" strike="noStrike" cap="none">
                <a:solidFill>
                  <a:schemeClr val="lt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Demonstration Scenario</a:t>
            </a:r>
            <a:endParaRPr sz="2862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9"/>
          <p:cNvSpPr/>
          <p:nvPr/>
        </p:nvSpPr>
        <p:spPr>
          <a:xfrm>
            <a:off x="571450" y="1504563"/>
            <a:ext cx="8001000" cy="2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72562"/>
              </a:lnSpc>
              <a:spcBef>
                <a:spcPts val="0"/>
              </a:spcBef>
              <a:spcAft>
                <a:spcPts val="0"/>
              </a:spcAft>
              <a:buClr>
                <a:srgbClr val="1E1B4B"/>
              </a:buClr>
              <a:buSzPts val="1159"/>
              <a:buFont typeface="Space Grotesk"/>
              <a:buNone/>
            </a:pPr>
            <a:r>
              <a:rPr lang="fr" sz="115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following scenari</a:t>
            </a:r>
            <a:r>
              <a:rPr lang="fr" sz="1159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o illustrates </a:t>
            </a:r>
            <a:r>
              <a:rPr lang="fr" sz="115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key features of the application</a:t>
            </a:r>
            <a:r>
              <a:rPr lang="fr" sz="1159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 :</a:t>
            </a:r>
            <a:endParaRPr sz="1159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9"/>
          <p:cNvSpPr/>
          <p:nvPr/>
        </p:nvSpPr>
        <p:spPr>
          <a:xfrm>
            <a:off x="571450" y="1898893"/>
            <a:ext cx="571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2436"/>
              <a:buFont typeface="Playfair Display"/>
              <a:buNone/>
            </a:pPr>
            <a:r>
              <a:rPr lang="fr" sz="2436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01</a:t>
            </a:r>
            <a:endParaRPr sz="243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9"/>
          <p:cNvSpPr/>
          <p:nvPr/>
        </p:nvSpPr>
        <p:spPr>
          <a:xfrm>
            <a:off x="1142950" y="2007472"/>
            <a:ext cx="20736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972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269"/>
              <a:buFont typeface="Space Grotesk"/>
              <a:buNone/>
            </a:pPr>
            <a:r>
              <a:rPr lang="fr" sz="126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Log in to the application.</a:t>
            </a:r>
            <a:endParaRPr sz="1269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9"/>
          <p:cNvSpPr/>
          <p:nvPr/>
        </p:nvSpPr>
        <p:spPr>
          <a:xfrm>
            <a:off x="4714825" y="1898893"/>
            <a:ext cx="571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2436"/>
              <a:buFont typeface="Playfair Display"/>
              <a:buNone/>
            </a:pPr>
            <a:r>
              <a:rPr lang="fr" sz="2436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02</a:t>
            </a:r>
            <a:endParaRPr sz="243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9"/>
          <p:cNvSpPr/>
          <p:nvPr/>
        </p:nvSpPr>
        <p:spPr>
          <a:xfrm>
            <a:off x="5286325" y="2007472"/>
            <a:ext cx="16287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972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269"/>
              <a:buFont typeface="Space Grotesk"/>
              <a:buNone/>
            </a:pPr>
            <a:r>
              <a:rPr lang="fr" sz="126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Create a new event.</a:t>
            </a:r>
            <a:endParaRPr sz="1269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9"/>
          <p:cNvSpPr/>
          <p:nvPr/>
        </p:nvSpPr>
        <p:spPr>
          <a:xfrm>
            <a:off x="571450" y="2441818"/>
            <a:ext cx="571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2436"/>
              <a:buFont typeface="Playfair Display"/>
              <a:buNone/>
            </a:pPr>
            <a:r>
              <a:rPr lang="fr" sz="2436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03</a:t>
            </a:r>
            <a:endParaRPr sz="243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9"/>
          <p:cNvSpPr/>
          <p:nvPr/>
        </p:nvSpPr>
        <p:spPr>
          <a:xfrm>
            <a:off x="1142950" y="2550397"/>
            <a:ext cx="20877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972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269"/>
              <a:buFont typeface="Space Grotesk"/>
              <a:buNone/>
            </a:pPr>
            <a:r>
              <a:rPr lang="fr" sz="126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Create a new participant.</a:t>
            </a:r>
            <a:endParaRPr sz="1269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9"/>
          <p:cNvSpPr/>
          <p:nvPr/>
        </p:nvSpPr>
        <p:spPr>
          <a:xfrm>
            <a:off x="4714825" y="2441818"/>
            <a:ext cx="571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2436"/>
              <a:buFont typeface="Playfair Display"/>
              <a:buNone/>
            </a:pPr>
            <a:r>
              <a:rPr lang="fr" sz="2436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04</a:t>
            </a:r>
            <a:endParaRPr sz="243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9"/>
          <p:cNvSpPr/>
          <p:nvPr/>
        </p:nvSpPr>
        <p:spPr>
          <a:xfrm>
            <a:off x="5286325" y="2550397"/>
            <a:ext cx="3087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972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269"/>
              <a:buFont typeface="Space Grotesk"/>
              <a:buNone/>
            </a:pPr>
            <a:r>
              <a:rPr lang="fr" sz="126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Register the participant for an event.</a:t>
            </a:r>
            <a:endParaRPr sz="1269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9"/>
          <p:cNvSpPr/>
          <p:nvPr/>
        </p:nvSpPr>
        <p:spPr>
          <a:xfrm>
            <a:off x="571450" y="2984743"/>
            <a:ext cx="571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2436"/>
              <a:buFont typeface="Playfair Display"/>
              <a:buNone/>
            </a:pPr>
            <a:r>
              <a:rPr lang="fr" sz="2436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05</a:t>
            </a:r>
            <a:endParaRPr sz="243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9"/>
          <p:cNvSpPr/>
          <p:nvPr/>
        </p:nvSpPr>
        <p:spPr>
          <a:xfrm>
            <a:off x="1142950" y="3093322"/>
            <a:ext cx="2544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972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269"/>
              <a:buFont typeface="Space Grotesk"/>
              <a:buNone/>
            </a:pPr>
            <a:r>
              <a:rPr lang="fr" sz="126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Filter events by status or date.</a:t>
            </a:r>
            <a:endParaRPr sz="1269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9"/>
          <p:cNvSpPr/>
          <p:nvPr/>
        </p:nvSpPr>
        <p:spPr>
          <a:xfrm>
            <a:off x="4714825" y="2996156"/>
            <a:ext cx="571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EC4899"/>
              </a:buClr>
              <a:buSzPts val="2436"/>
              <a:buFont typeface="Playfair Display"/>
              <a:buNone/>
            </a:pPr>
            <a:r>
              <a:rPr lang="fr" sz="2436" b="1" i="0" u="none" strike="noStrike" cap="none">
                <a:solidFill>
                  <a:srgbClr val="EC4899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06</a:t>
            </a:r>
            <a:endParaRPr sz="243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9"/>
          <p:cNvSpPr/>
          <p:nvPr/>
        </p:nvSpPr>
        <p:spPr>
          <a:xfrm>
            <a:off x="5286325" y="2984743"/>
            <a:ext cx="3286200" cy="4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9724"/>
              </a:lnSpc>
              <a:spcBef>
                <a:spcPts val="0"/>
              </a:spcBef>
              <a:spcAft>
                <a:spcPts val="0"/>
              </a:spcAft>
              <a:buClr>
                <a:srgbClr val="4338CA"/>
              </a:buClr>
              <a:buSzPts val="1269"/>
              <a:buFont typeface="Space Grotesk"/>
              <a:buNone/>
            </a:pPr>
            <a:r>
              <a:rPr lang="fr" sz="1269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rPr>
              <a:t>Show the difference between staff and viewer access.</a:t>
            </a:r>
            <a:endParaRPr sz="1269" b="0" i="0" u="none" strike="noStrike" cap="non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9"/>
          <p:cNvSpPr txBox="1"/>
          <p:nvPr/>
        </p:nvSpPr>
        <p:spPr>
          <a:xfrm>
            <a:off x="3073250" y="3981700"/>
            <a:ext cx="221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D6D5D4"/>
                </a:solidFill>
                <a:latin typeface="Georgia"/>
                <a:ea typeface="Georgia"/>
                <a:cs typeface="Georgia"/>
                <a:sym typeface="Georgia"/>
              </a:rPr>
              <a:t>Live demo coming up</a:t>
            </a:r>
            <a:endParaRPr>
              <a:solidFill>
                <a:srgbClr val="D6D5D4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356</Words>
  <Application>Microsoft Macintosh PowerPoint</Application>
  <PresentationFormat>Affichage à l'écran (16:9)</PresentationFormat>
  <Paragraphs>91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5</vt:i4>
      </vt:variant>
    </vt:vector>
  </HeadingPairs>
  <TitlesOfParts>
    <vt:vector size="12" baseType="lpstr">
      <vt:lpstr>Calibri</vt:lpstr>
      <vt:lpstr>Playfair Display</vt:lpstr>
      <vt:lpstr>Arial</vt:lpstr>
      <vt:lpstr>Space Grotesk</vt:lpstr>
      <vt:lpstr>Georgia</vt:lpstr>
      <vt:lpstr>Simple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cp:lastModifiedBy>Lana Huynh</cp:lastModifiedBy>
  <cp:revision>1</cp:revision>
  <dcterms:modified xsi:type="dcterms:W3CDTF">2026-04-09T13:37:36Z</dcterms:modified>
</cp:coreProperties>
</file>